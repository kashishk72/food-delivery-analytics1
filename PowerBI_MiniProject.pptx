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4572000"/>
            <a:ext cx="8979408" cy="571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1A3A6E">
              <a:alpha val="4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2286000"/>
            <a:ext cx="2743200" cy="2743200"/>
          </a:xfrm>
          <a:prstGeom prst="ellipse">
            <a:avLst/>
          </a:prstGeom>
          <a:solidFill>
            <a:srgbClr val="0D9488">
              <a:alpha val="2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5029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14B8A6"/>
                </a:solidFill>
              </a:rPr>
              <a:t>POWER BI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0058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Project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11480" y="2286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Sales &amp; Business Intelligence Dashboard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017520"/>
            <a:ext cx="2011680" cy="347472"/>
          </a:xfrm>
          <a:prstGeom prst="rect">
            <a:avLst>
              <a:gd name="adj" fmla="val 2105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01752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SDG 8: Decent Work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3017520"/>
            <a:ext cx="2011680" cy="347472"/>
          </a:xfrm>
          <a:prstGeom prst="rect">
            <a:avLst>
              <a:gd name="adj" fmla="val 2105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301752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Star Schema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3017520"/>
            <a:ext cx="2011680" cy="347472"/>
          </a:xfrm>
          <a:prstGeom prst="rect">
            <a:avLst>
              <a:gd name="adj" fmla="val 2105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301752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5+ Measures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0" y="3017520"/>
            <a:ext cx="2011680" cy="347472"/>
          </a:xfrm>
          <a:prstGeom prst="rect">
            <a:avLst>
              <a:gd name="adj" fmla="val 2105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301752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7 Time Intelligence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1480" y="4663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4B"/>
                </a:solidFill>
              </a:rPr>
              <a:t>Academic Year 2024-25  |  Power BI Desktop &amp; Service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5156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51560"/>
            <a:ext cx="64008" cy="1691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618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Data Loading &amp; Transformation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Import, clean &amp; preprocess raw sales data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051560"/>
            <a:ext cx="64008" cy="1691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11887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83280" y="1618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Data Modeling &amp; Schema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0" y="2057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Star schema with custom Calendar table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72200" y="105156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051560"/>
            <a:ext cx="64008" cy="1691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1887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09360" y="1618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DAX Measures &amp; Columns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2057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5+ Measures, 5+ Calculated Columns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97180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971800"/>
            <a:ext cx="64008" cy="1691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10896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7200" y="35387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Time Intelligence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7 TI functions for trend analysis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297180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46120" y="2971800"/>
            <a:ext cx="64008" cy="1691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310896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05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383280" y="35387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Visuals &amp; Dashboard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7.5 visuals, storytelling, Power BI Service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72200" y="297180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72200" y="2971800"/>
            <a:ext cx="64008" cy="1691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10896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06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309360" y="35387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SDG Alignment &amp; Insights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SDG Goal 8 — Decent Work &amp; Economic Growth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 LOADING &amp; TRANSFORMATION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2743200" cy="3840480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508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Data Sources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029968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9933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Sales transaction CSV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2596896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2560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Product master Excel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3163824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Customer &amp; Region lookup tables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3730752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369417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Date/Calendar reference 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154680" y="1005840"/>
            <a:ext cx="2743200" cy="3840480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</a:rPr>
              <a:t>STEP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46120" y="1508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Power Query — Cleaning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291840" y="2029968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83864" y="19933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Removed nulls &amp; duplicates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91840" y="2596896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83864" y="2560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Standardized date formats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3163824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83864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Trimmed whitespace in text cols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1840" y="3730752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83864" y="369417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Corrected data types (int/text/date)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005840"/>
            <a:ext cx="2743200" cy="3840480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</a:rPr>
              <a:t>STEP 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26480" y="1508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Preprocessing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72200" y="2029968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64224" y="19933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Merged queries (lookups)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72200" y="2596896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4224" y="2560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Renamed columns for clarity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3163824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64224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Filtered irrelevant rows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72200" y="3730752"/>
            <a:ext cx="118872" cy="1188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64224" y="369417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Created conditional columns in PQ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0" y="4572000"/>
            <a:ext cx="274320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5720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✓  Requirements 1 &amp; 2 — COMPLETED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 MODEL — STAR SCHEMA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2011680"/>
            <a:ext cx="2560320" cy="1737360"/>
          </a:xfrm>
          <a:prstGeom prst="rect">
            <a:avLst/>
          </a:prstGeom>
          <a:solidFill>
            <a:srgbClr val="0B1F4B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91840" y="20116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FACT TABLE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91840" y="2331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FactSales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37560" y="267004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• OrderID (PK)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• ProductKey (FK)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• CustomerKey (FK)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• DateKey (FK)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• Sales, Qty, Profit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1691640"/>
            <a:ext cx="2377440" cy="1691640"/>
          </a:xfrm>
          <a:prstGeom prst="rect">
            <a:avLst/>
          </a:prstGeom>
          <a:solidFill>
            <a:srgbClr val="F0F4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1691640"/>
            <a:ext cx="23774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DimProduct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209397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ProductKey (PK)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0040" y="234086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ProductName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0040" y="258775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Category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20040" y="283464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SubCategory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0040" y="308152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UnitCost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" y="3291840"/>
            <a:ext cx="2377440" cy="1691640"/>
          </a:xfrm>
          <a:prstGeom prst="rect">
            <a:avLst/>
          </a:prstGeom>
          <a:solidFill>
            <a:srgbClr val="F0F4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" y="3291840"/>
            <a:ext cx="23774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32918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DimCustomer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369417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CustomerKey (PK)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20040" y="394106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CustomerName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0040" y="418795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Segment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20040" y="443484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Region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20040" y="468172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Country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75120" y="1691640"/>
            <a:ext cx="2377440" cy="1691640"/>
          </a:xfrm>
          <a:prstGeom prst="rect">
            <a:avLst/>
          </a:prstGeom>
          <a:solidFill>
            <a:srgbClr val="F0F4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1691640"/>
            <a:ext cx="23774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0" y="16916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DimDate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766560" y="209397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DateKey (PK)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234086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Date, Year, Quarter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766560" y="258775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Month, Week, Day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766560" y="283464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IsWeekend, Holiday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08152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FiscalYear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675120" y="3291840"/>
            <a:ext cx="2377440" cy="1691640"/>
          </a:xfrm>
          <a:prstGeom prst="rect">
            <a:avLst/>
          </a:prstGeom>
          <a:solidFill>
            <a:srgbClr val="F0F4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75120" y="3291840"/>
            <a:ext cx="23774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75120" y="32918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DimRegion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66560" y="369417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RegionKey (PK)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766560" y="394106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RegionName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766560" y="418795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Country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766560" y="443484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• Continent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606040" y="2514600"/>
            <a:ext cx="34290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48940" y="2514600"/>
            <a:ext cx="0" cy="4572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48940" y="2560320"/>
            <a:ext cx="34290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6040" y="4114800"/>
            <a:ext cx="34290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8940" y="4114800"/>
            <a:ext cx="0" cy="-100584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48940" y="3108960"/>
            <a:ext cx="34290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75120" y="2514600"/>
            <a:ext cx="-4114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63640" y="2514600"/>
            <a:ext cx="0" cy="4572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63640" y="2560320"/>
            <a:ext cx="-4114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75120" y="4114800"/>
            <a:ext cx="-4114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63640" y="4114800"/>
            <a:ext cx="0" cy="-100584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63640" y="3108960"/>
            <a:ext cx="-4114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0" y="4773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★ Star Schema  |  1-to-Many Relationships  |  Requirements 3 &amp; 5 — DONE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CUSTOM CALENDAR TABLE &amp; DATA GRAIN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4114800" cy="3977640"/>
          </a:xfrm>
          <a:prstGeom prst="rect">
            <a:avLst/>
          </a:prstGeom>
          <a:solidFill>
            <a:srgbClr val="0B1F4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DAX — Calendar Table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402336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DimDate =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ADDCOLUMNS(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CALENDARAUTO(),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"Year",  YEAR([Date]),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"Quarter", "Q" &amp;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QUARTER([Date]),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"MonthNum", MONTH([Date]),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"MonthName",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FORMAT([Date],"MMMM"),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"WeekNum", WEEKNUM([Date]),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"DayName",FORMAT([Date],"dddd"),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"IsWeekend",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WEEKDAY([Date],2)&gt;=6,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"FiscalYear",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IF(MONTH([Date])&gt;=4,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"FY"&amp;YEAR([Date]),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"FY"&amp;(YEAR([Date])-1)))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0" y="1005840"/>
            <a:ext cx="42976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0058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Column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35040" y="1005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Type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95160" y="10058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Description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1389888"/>
            <a:ext cx="4297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3898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35040" y="13898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Date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95160" y="13898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Primary key — daily grain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0" y="1737360"/>
            <a:ext cx="4297680" cy="347472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17373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35040" y="17373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Int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95160" y="17373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Calendar year (2020–2024)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0" y="2084832"/>
            <a:ext cx="4297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0" y="20848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Quarter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0848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Text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95160" y="20848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Q1, Q2, Q3, Q4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0" y="2432304"/>
            <a:ext cx="4297680" cy="347472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24323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MonthNum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35040" y="243230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Int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95160" y="24323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1–12 for sorting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0" y="2779776"/>
            <a:ext cx="4297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0" y="27797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MonthName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035040" y="277977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Text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277977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January … December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347472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0" y="312724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WeekNum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35040" y="31272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Int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31272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ISO week number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72000" y="3474720"/>
            <a:ext cx="4297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0" y="34747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DayName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035040" y="34747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Text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95160" y="34747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Monday … Sunday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572000" y="3822192"/>
            <a:ext cx="4297680" cy="347472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17720" y="38221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IsWeekend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35040" y="382219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Bool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95160" y="38221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TRUE on Sat/Sun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000" y="4169664"/>
            <a:ext cx="4297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0" y="41696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FiscalYear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35040" y="416966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Text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995160" y="416966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FY starting April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0" y="4517136"/>
            <a:ext cx="4297680" cy="347472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17720" y="451713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FiscalQuarter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035040" y="45171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Text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95160" y="451713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FQ1–FQ4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572000" y="4663440"/>
            <a:ext cx="429768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0" y="46634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4B"/>
                </a:solidFill>
              </a:rPr>
              <a:t>GRAIN: One row per day per sales transaction (daily transactional grain)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MEASURES &amp; CALCULATED COLUMNS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41148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DAX MEASURES  (5)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417320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4630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Total Sales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SUMX(FactSales, [Qty]*[UnitPrice])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2121408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2121408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1671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Total Profit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441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SUM(FactSales[Profit])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2825496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825496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8712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Profit Margin 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1455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DIVIDE([Total Profit],[Total Sales],0)*100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3529584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529584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5753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Avg Order Value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38496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DIVIDE([Total Sales], DISTINCTCOUNT(FactSales[OrderID]),0)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4233672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" y="4233672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42793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YTD Sales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148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TOTALYTD([Total Sales], DimDate[Date])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754880" y="960120"/>
            <a:ext cx="4114800" cy="38404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96012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CALCULATED COLUMNS  (5)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1417320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1417320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14630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SalesCategory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9204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IF([Sales]&gt;10000,"High","Low")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2121408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121408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21671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ProfitBand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92040" y="2441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SWITCH(TRUE(), [Margin]&gt;30,"Premium", [Margin]&gt;15,"Standard","Economy")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54880" y="2825496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2825496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28712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YearMonth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92040" y="31455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FORMAT([Date],"YYYY-MM")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54880" y="3529584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3529584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35753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AgeGroup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892040" y="38496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IF([CustomerAge]&lt;30,"Young", IF([CustomerAge]&lt;50,"Mid","Senior"))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54880" y="4233672"/>
            <a:ext cx="4114800" cy="658368"/>
          </a:xfrm>
          <a:prstGeom prst="rect">
            <a:avLst/>
          </a:prstGeom>
          <a:solidFill>
            <a:srgbClr val="F0F4FA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54880" y="4233672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42793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ShipDays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89204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DATEDIFF([OrderDate],[ShipDate],DAY)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TIME INTELLIGENCE FUNCTIONS (7)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85953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 Function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920240" y="9601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Measure Name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DAX Formula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9224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Business Purpose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344168"/>
            <a:ext cx="85953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3441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TOTALYTD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920240" y="13441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Sales YTD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13441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TOTALYTD([Total Sales], DimDate[Date])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492240" y="13441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Year-to-date cumulative sales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847088"/>
            <a:ext cx="8595360" cy="502920"/>
          </a:xfrm>
          <a:prstGeom prst="rect">
            <a:avLst/>
          </a:prstGeom>
          <a:solidFill>
            <a:srgbClr val="EFF6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8470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TOTALQTD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20240" y="18470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Sales QTD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40480" y="18470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TOTALQTD([Total Sales], DimDate[Date])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492240" y="18470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Quarter-to-date running total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2350008"/>
            <a:ext cx="85953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50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TOTALMTD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20240" y="23500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Sales MTD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840480" y="235000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TOTALMTD([Total Sales], DimDate[Date])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492240" y="235000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Month-to-date running 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2852928"/>
            <a:ext cx="8595360" cy="502920"/>
          </a:xfrm>
          <a:prstGeom prst="rect">
            <a:avLst/>
          </a:prstGeom>
          <a:solidFill>
            <a:srgbClr val="EFF6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85292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SAMEPERIODLASTYEAR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9202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Sales LY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40480" y="28529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CALCULATE([Total Sales],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SAMEPERIODLASTYEAR(DimDate[Date]))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492240" y="28529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Prior year comparison (YoY)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355848"/>
            <a:ext cx="85953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3558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DATEADD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0240" y="335584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Sales PM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840480" y="335584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CALCULATE([Total Sales],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DATEADD(DimDate[Date],-1,MONTH))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492240" y="335584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Prior month comparison (MoM)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858768"/>
            <a:ext cx="8595360" cy="502920"/>
          </a:xfrm>
          <a:prstGeom prst="rect">
            <a:avLst/>
          </a:prstGeom>
          <a:solidFill>
            <a:srgbClr val="EFF6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38587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DATESYTD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20240" y="38587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Profit YTD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40480" y="38587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CALCULATE([Total Profit],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DATESYTD(DimDate[Date]))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492240" y="38587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Profit accumulated YTD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4361688"/>
            <a:ext cx="85953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3616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1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PARALLELPERIOD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92024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QoQ Sales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840480" y="43616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CALCULATE([Total Sales],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PARALLELPERIOD(DimDate[Date],-1,QUARTER))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492240" y="43616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Same quarter prior period (QoQ)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818888"/>
            <a:ext cx="8595360" cy="256032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4320" y="48188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All TI functions use the marked date table DimDate | Requirement 10 — 7 Functions ✓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VISUALS &amp; DASHBOARD (7.5 Visuals)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4251960" cy="91440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05840"/>
            <a:ext cx="50292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058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0607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KPI Cards (×4)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13716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Total Sales ₹12.4M | Profit ₹3.1M | Orders 8,240 | Margin 25%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4251960" cy="91440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1005840"/>
            <a:ext cx="50292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10607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Line Chart — YTD vs LY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257800" y="13716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2024 sales grew 18% YoY; peak in Oct–Nov indicating seasonal demand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2011680"/>
            <a:ext cx="4251960" cy="91440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011680"/>
            <a:ext cx="50292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066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Bar Chart — Sales by Category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2377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Technology leads at 42%; Furniture slowest growing at 11% YoY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09160" y="2011680"/>
            <a:ext cx="4251960" cy="91440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2011680"/>
            <a:ext cx="50292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2066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Map Visual — Region Sales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257800" y="2377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West region dominates; South shows highest growth potential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3017520"/>
            <a:ext cx="4251960" cy="91440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3017520"/>
            <a:ext cx="50292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01752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0723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Donut Chart — Segment Mix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960" y="3383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Corporate 48%, Consumer 35%, Home Office 17% of total revenue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709160" y="3017520"/>
            <a:ext cx="4251960" cy="91440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09160" y="3017520"/>
            <a:ext cx="50292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9160" y="301752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257800" y="30723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Waterfall — Profit Bridge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257800" y="3383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Discounts erode 8% of gross profit; logistics cost is the 2nd driver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4023360"/>
            <a:ext cx="4251960" cy="91440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4023360"/>
            <a:ext cx="50292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02336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7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0782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Matrix — Product × Region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2960" y="43891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Cross-tab reveals top 5 SKUs account for 62% of category revenue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709160" y="4023360"/>
            <a:ext cx="4251960" cy="91440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09160" y="4023360"/>
            <a:ext cx="50292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09160" y="402336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0.5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257800" y="40782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Decomposition Tree (half)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257800" y="43891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AI-driven drill-down to root cause of high-profit sub-categories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 STORYTELLING &amp; SDG ALIGNMENT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601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4B"/>
                </a:solidFill>
              </a:rPr>
              <a:t>Data Storytelling Arc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53312"/>
            <a:ext cx="4754880" cy="82296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353312"/>
            <a:ext cx="960120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353312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CONTEXT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298448" y="14630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Business overview: retail chain facing stagnating margins. Sales data from 2020–2024.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267712"/>
            <a:ext cx="4754880" cy="82296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2267712"/>
            <a:ext cx="9601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267712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CONFLICT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298448" y="23774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Despite rising revenue, profit margin declining due to discounts &amp; rising logistics cost.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182112"/>
            <a:ext cx="4754880" cy="82296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3182112"/>
            <a:ext cx="960120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3182112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RESOLUTION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98448" y="32918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Technology segment &amp; West region are bright spots. Reducing discounts by 5% recovers ₹0.6M.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4096512"/>
            <a:ext cx="4754880" cy="822960"/>
          </a:xfrm>
          <a:prstGeom prst="rect">
            <a:avLst/>
          </a:prstGeom>
          <a:solidFill>
            <a:srgbClr val="F0F4FA"/>
          </a:solidFill>
          <a:ln w="5080">
            <a:solidFill>
              <a:srgbClr val="D1D5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4096512"/>
            <a:ext cx="960120" cy="82296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096512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CALL TO ACTION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298448" y="42062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Focus marketing on high-margin SKUs; rationalize discount policy for Corporate segment.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257800" y="960120"/>
            <a:ext cx="3611880" cy="4069080"/>
          </a:xfrm>
          <a:prstGeom prst="rect">
            <a:avLst/>
          </a:prstGeom>
          <a:solidFill>
            <a:srgbClr val="E51E29"/>
          </a:solidFill>
          <a:ln w="12700">
            <a:solidFill>
              <a:srgbClr val="E51E2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10058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🌍  SDG GOAL 8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257800" y="153619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Decent Work &amp;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Economic Growth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49240" y="224028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📊 Tracks business performance to drive sustainable economic growth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349240" y="27706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💼 Identifies revenue channels that support employment &amp; fair wages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49240" y="3300984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📈 Profit analysis enables smarter resource allocation &amp; job creation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49240" y="3831336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🌐 Regional sales map aligns investment with underserved markets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349240" y="436168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⚡ Time-intelligence forecasting enables long-term workforce planning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681728"/>
            <a:ext cx="475488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68172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✓ Published to Power BI Service  |  Storyboard Dashboard  |  Req. 11, 14, 15 DONE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KEY INSIGHTS &amp; INFERENCES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85953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Visual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965960" y="96012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66360" y="960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Recommended Action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344168"/>
            <a:ext cx="85953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441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1F4B"/>
                </a:solidFill>
              </a:rPr>
              <a:t>KPI Cards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965960" y="13441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₹12.4M Revenue with 25% margin — above industry avg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166360" y="13441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</a:rPr>
              <a:t>Maintain pricing discipline in Technology segment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74320" y="1847088"/>
            <a:ext cx="8595360" cy="502920"/>
          </a:xfrm>
          <a:prstGeom prst="rect">
            <a:avLst/>
          </a:prstGeom>
          <a:solidFill>
            <a:srgbClr val="F0FDF4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8470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1F4B"/>
                </a:solidFill>
              </a:rPr>
              <a:t>YTD Line Chart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65960" y="184708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18% YoY growth; Nov spike = seasonal demand surge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166360" y="1847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</a:rPr>
              <a:t>Pre-stock inventory in Q3 to maximize Nov–Dec sales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350008"/>
            <a:ext cx="85953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3500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1F4B"/>
                </a:solidFill>
              </a:rPr>
              <a:t>Category Bar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65960" y="235000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Furniture growing slowest; 3 sub-categories loss-making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166360" y="23500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</a:rPr>
              <a:t>Review or discontinue bottom 3 Furniture SKUs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74320" y="2852928"/>
            <a:ext cx="8595360" cy="502920"/>
          </a:xfrm>
          <a:prstGeom prst="rect">
            <a:avLst/>
          </a:prstGeom>
          <a:solidFill>
            <a:srgbClr val="F0FDF4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529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1F4B"/>
                </a:solidFill>
              </a:rPr>
              <a:t>Region Map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5960" y="285292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South region untapped: only 11% of sales, high growth rate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166360" y="28529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</a:rPr>
              <a:t>Increase sales team allocation in South by 20%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3355848"/>
            <a:ext cx="85953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3558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1F4B"/>
                </a:solidFill>
              </a:rPr>
              <a:t>Segment Donut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65960" y="335584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Corporate segment: highest volume, lowest margin (18%)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166360" y="33558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</a:rPr>
              <a:t>Renegotiate bulk discount thresholds for Corporate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3858768"/>
            <a:ext cx="8595360" cy="502920"/>
          </a:xfrm>
          <a:prstGeom prst="rect">
            <a:avLst/>
          </a:prstGeom>
          <a:solidFill>
            <a:srgbClr val="F0FDF4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8587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1F4B"/>
                </a:solidFill>
              </a:rPr>
              <a:t>Waterfall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965960" y="38587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Discounts alone erode ₹1.2M potential profit annually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166360" y="38587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</a:rPr>
              <a:t>Cap item-level discount at 15%; review exceptions quarterly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4320" y="4361688"/>
            <a:ext cx="85953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3616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1F4B"/>
                </a:solidFill>
              </a:rPr>
              <a:t>Product Matrix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65960" y="436168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Top 5 SKUs = 62% revenue; bottom 40 SKUs = 8%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166360" y="43616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</a:rPr>
              <a:t>Apply 80/20 rule: focus marketing on top performers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PROJECT REQUIREMENTS — COMPLETION STATUS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8595360" cy="338328"/>
          </a:xfrm>
          <a:prstGeom prst="rect">
            <a:avLst/>
          </a:prstGeom>
          <a:solidFill>
            <a:srgbClr val="0B1F4B"/>
          </a:solidFill>
          <a:ln w="12700">
            <a:solidFill>
              <a:srgbClr val="0B1F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#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8952" y="960120"/>
            <a:ext cx="5440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Requirement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36208" y="960120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Status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8595360" cy="251460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9844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29844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Data Loading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236208" y="129844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1549908"/>
            <a:ext cx="8595360" cy="25146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54990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58952" y="154990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Data Transformation (Cleaning &amp; Preprocessing)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36208" y="154990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801368"/>
            <a:ext cx="8595360" cy="251460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180136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58952" y="180136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Creating Data Model (Relationships)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80136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2052828"/>
            <a:ext cx="8595360" cy="25146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05282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58952" y="205282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Creation of Custom Calendar Table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36208" y="205282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2304288"/>
            <a:ext cx="8595360" cy="251460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30428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58952" y="230428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Preparation of Schema Diagram (Star Schema)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36208" y="230428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555748"/>
            <a:ext cx="8595360" cy="25146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255574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58952" y="255574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Writing Grain (Level of Data Detail)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36208" y="255574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2807208"/>
            <a:ext cx="8595360" cy="251460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280720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7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58952" y="280720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7.5 Visuals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36208" y="280720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3058668"/>
            <a:ext cx="8595360" cy="25146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305866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8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8952" y="305866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Minimum 5 DAX Measures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236208" y="305866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5 Measures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3310128"/>
            <a:ext cx="8595360" cy="251460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31012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9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58952" y="331012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Minimum 5 Calculated Columns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36208" y="331012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5 Columns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3561588"/>
            <a:ext cx="8595360" cy="25146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356158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10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8952" y="356158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Minimum 7 Time Intelligence Functions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236208" y="356158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7 Functions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3813048"/>
            <a:ext cx="8595360" cy="251460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0040" y="381304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11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58952" y="381304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Publish Report to Power BI Service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236208" y="381304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74320" y="4064508"/>
            <a:ext cx="8595360" cy="25146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406450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12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58952" y="406450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Map to Relevant SDG Goal (SDG 8)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236208" y="406450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74320" y="4315968"/>
            <a:ext cx="8595360" cy="251460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0040" y="431596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13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58952" y="431596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Meaningful Insights / Inferences for Each Visual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236208" y="431596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7 Insights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74320" y="4567428"/>
            <a:ext cx="8595360" cy="25146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20040" y="456742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14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58952" y="456742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Create Proper Dashboard / Storyboard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236208" y="456742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74320" y="4818888"/>
            <a:ext cx="8595360" cy="251460"/>
          </a:xfrm>
          <a:prstGeom prst="rect">
            <a:avLst/>
          </a:prstGeom>
          <a:solidFill>
            <a:srgbClr val="F0F4FA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20040" y="4818888"/>
            <a:ext cx="411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15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58952" y="4818888"/>
            <a:ext cx="54406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Apply Data Storytelling Techniques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236208" y="4818888"/>
            <a:ext cx="1828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✓ DONE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858000" y="4709160"/>
            <a:ext cx="201168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858000" y="4709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15 / 15  ✓  100%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371600" y="-1371600"/>
            <a:ext cx="5486400" cy="5486400"/>
          </a:xfrm>
          <a:prstGeom prst="ellipse">
            <a:avLst/>
          </a:prstGeom>
          <a:solidFill>
            <a:srgbClr val="1A3A6E">
              <a:alpha val="30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2286000"/>
            <a:ext cx="4114800" cy="4114800"/>
          </a:xfrm>
          <a:prstGeom prst="ellipse">
            <a:avLst/>
          </a:prstGeom>
          <a:solidFill>
            <a:srgbClr val="0D9488">
              <a:alpha val="20000"/>
            </a:srgbClr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914400" y="21945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</a:rPr>
              <a:t>Power BI Mini Project — Complete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SDG 8 • Star Schema • 5 Measures • 5 Calc Columns • 7 Time Intelligence • 7.5 Visuals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3429000"/>
            <a:ext cx="1645920" cy="1280160"/>
          </a:xfrm>
          <a:prstGeom prst="rect">
            <a:avLst/>
          </a:prstGeom>
          <a:solidFill>
            <a:srgbClr val="1A3A6E"/>
          </a:solidFill>
          <a:ln w="1016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747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</a:rPr>
              <a:t>15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14400" y="4069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Requirements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Completed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34640" y="3429000"/>
            <a:ext cx="1645920" cy="1280160"/>
          </a:xfrm>
          <a:prstGeom prst="rect">
            <a:avLst/>
          </a:prstGeom>
          <a:solidFill>
            <a:srgbClr val="1A3A6E"/>
          </a:solidFill>
          <a:ln w="1016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34747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</a:rPr>
              <a:t>7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834640" y="4069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Functions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3429000"/>
            <a:ext cx="1645920" cy="1280160"/>
          </a:xfrm>
          <a:prstGeom prst="rect">
            <a:avLst/>
          </a:prstGeom>
          <a:solidFill>
            <a:srgbClr val="1A3A6E"/>
          </a:solidFill>
          <a:ln w="1016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4747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</a:rPr>
              <a:t>12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54880" y="4069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DAX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Formulas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75120" y="3429000"/>
            <a:ext cx="1645920" cy="1280160"/>
          </a:xfrm>
          <a:prstGeom prst="rect">
            <a:avLst/>
          </a:prstGeom>
          <a:solidFill>
            <a:srgbClr val="1A3A6E"/>
          </a:solidFill>
          <a:ln w="1016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34747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</a:rPr>
              <a:t>8K+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675120" y="4069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Data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Rows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BI Mini Project</dc:title>
  <dc:subject>PptxGenJS Presentation</dc:subject>
  <dc:creator>Student</dc:creator>
  <cp:lastModifiedBy>Student</cp:lastModifiedBy>
  <cp:revision>1</cp:revision>
  <dcterms:created xsi:type="dcterms:W3CDTF">2026-05-05T09:36:02Z</dcterms:created>
  <dcterms:modified xsi:type="dcterms:W3CDTF">2026-05-05T09:36:02Z</dcterms:modified>
</cp:coreProperties>
</file>