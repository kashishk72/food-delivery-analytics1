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820000</c:v>
                </c:pt>
                <c:pt idx="1">
                  <c:v>950000</c:v>
                </c:pt>
                <c:pt idx="2">
                  <c:v>870000</c:v>
                </c:pt>
                <c:pt idx="3">
                  <c:v>1100000</c:v>
                </c:pt>
                <c:pt idx="4">
                  <c:v>980000</c:v>
                </c:pt>
                <c:pt idx="5">
                  <c:v>1250000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ED-40BE-B833-2CC37D0BC7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32B-4AD5-8EBC-3A5847F9889B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32B-4AD5-8EBC-3A5847F9889B}"/>
              </c:ext>
            </c:extLst>
          </c:dPt>
          <c:dPt>
            <c:idx val="2"/>
            <c:bubble3D val="0"/>
            <c:spPr>
              <a:solidFill>
                <a:srgbClr val="0F20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32B-4AD5-8EBC-3A5847F9889B}"/>
              </c:ext>
            </c:extLst>
          </c:dPt>
          <c:dPt>
            <c:idx val="3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32B-4AD5-8EBC-3A5847F9889B}"/>
              </c:ext>
            </c:extLst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32B-4AD5-8EBC-3A5847F9889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32B-4AD5-8EBC-3A5847F9889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2B-4AD5-8EBC-3A5847F9889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2B-4AD5-8EBC-3A5847F9889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32B-4AD5-8EBC-3A5847F9889B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32B-4AD5-8EBC-3A5847F9889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Fast Food</c:v>
                </c:pt>
                <c:pt idx="1">
                  <c:v>Indian</c:v>
                </c:pt>
                <c:pt idx="2">
                  <c:v>Chinese</c:v>
                </c:pt>
                <c:pt idx="3">
                  <c:v>Italian</c:v>
                </c:pt>
                <c:pt idx="4">
                  <c:v>Beverages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28</c:v>
                </c:pt>
                <c:pt idx="2">
                  <c:v>18</c:v>
                </c:pt>
                <c:pt idx="3">
                  <c:v>12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32B-4AD5-8EBC-3A5847F988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178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A1A1A">
              <a:alpha val="60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1828800" cy="1828800"/>
          </a:xfrm>
          <a:prstGeom prst="ellipse">
            <a:avLst/>
          </a:prstGeom>
          <a:solidFill>
            <a:srgbClr val="FF6B35">
              <a:alpha val="3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57200"/>
            <a:ext cx="1097280" cy="10972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5029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🛵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5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7432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| Power BI Data Analytics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8600" y="4023360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1A1A1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40233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11680" y="4023360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1A1A1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40233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94760" y="4023360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1A1A1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40233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77840" y="4023360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1A1A1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40233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60920" y="4023360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1A1A1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40233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Mapping</a:t>
            </a:r>
            <a:endParaRPr lang="en-US" sz="9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4B31B1-FE33-5EF8-69DF-3DA185817776}"/>
              </a:ext>
            </a:extLst>
          </p:cNvPr>
          <p:cNvSpPr txBox="1"/>
          <p:nvPr/>
        </p:nvSpPr>
        <p:spPr>
          <a:xfrm>
            <a:off x="235131" y="4502080"/>
            <a:ext cx="4813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omic Sans MS" panose="030F0702030302020204" pitchFamily="66" charset="0"/>
              </a:rPr>
              <a:t>Name:- Kashish Kanwar | Rehan Kwatla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EE8D66-4AED-5177-AEF5-3AC3B591BF9E}"/>
              </a:ext>
            </a:extLst>
          </p:cNvPr>
          <p:cNvSpPr txBox="1"/>
          <p:nvPr/>
        </p:nvSpPr>
        <p:spPr>
          <a:xfrm>
            <a:off x="228600" y="4792979"/>
            <a:ext cx="4813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omic Sans MS" panose="030F0702030302020204" pitchFamily="66" charset="0"/>
              </a:rPr>
              <a:t>PRN:- 202501110174 | 202501110178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DE33C7-256F-7A59-A4B9-315CB91A0A16}"/>
              </a:ext>
            </a:extLst>
          </p:cNvPr>
          <p:cNvSpPr txBox="1"/>
          <p:nvPr/>
        </p:nvSpPr>
        <p:spPr>
          <a:xfrm>
            <a:off x="3233057" y="4640579"/>
            <a:ext cx="5532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omic Sans MS" panose="030F0702030302020204" pitchFamily="66" charset="0"/>
              </a:rPr>
              <a:t>Made Under the Guidance of </a:t>
            </a:r>
            <a:r>
              <a:rPr lang="en-IN" sz="1200" u="sng" dirty="0">
                <a:latin typeface="Comic Sans MS" panose="030F0702030302020204" pitchFamily="66" charset="0"/>
              </a:rPr>
              <a:t>Mr. Anil Pawar (</a:t>
            </a:r>
            <a:r>
              <a:rPr lang="en-US" sz="800" dirty="0">
                <a:latin typeface="Comic Sans MS" panose="030F0702030302020204" pitchFamily="66" charset="0"/>
              </a:rPr>
              <a:t>Assistant Professor Dept. of CSE(AI&amp;ML) </a:t>
            </a:r>
            <a:r>
              <a:rPr lang="en-US" sz="1200" dirty="0">
                <a:latin typeface="Comic Sans MS" panose="030F0702030302020204" pitchFamily="66" charset="0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11480" cy="658368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05840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4088" y="100584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411480" cy="658368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05840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75888" y="100584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005840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005840"/>
            <a:ext cx="411480" cy="658368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005840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47688" y="100584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1865376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1865376"/>
            <a:ext cx="411480" cy="658368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1865376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" y="1865376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Calendar Table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1865376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865376"/>
            <a:ext cx="411480" cy="658368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1865376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75888" y="1865376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Diagram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1865376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1865376"/>
            <a:ext cx="411480" cy="658368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865376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47688" y="1865376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Definition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2724912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2724912"/>
            <a:ext cx="411480" cy="658368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2724912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" y="2724912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Visuals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0" y="2724912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2724912"/>
            <a:ext cx="411480" cy="658368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2724912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75888" y="2724912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DAX Measures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72200" y="2724912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72200" y="2724912"/>
            <a:ext cx="411480" cy="658368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2724912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47688" y="2724912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Calculated Columns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28600" y="358444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28600" y="3584448"/>
            <a:ext cx="411480" cy="658368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3584448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4088" y="3584448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 (10)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00400" y="358444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0" y="3584448"/>
            <a:ext cx="411480" cy="658368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0" y="3584448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75888" y="3584448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Power BI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172200" y="358444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72200" y="3584448"/>
            <a:ext cx="411480" cy="658368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72200" y="3584448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647688" y="3584448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Goal Mapping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28600" y="4443984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28600" y="4443984"/>
            <a:ext cx="411480" cy="658368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" y="4443984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04088" y="4443984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per Visual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200400" y="4443984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200400" y="4443984"/>
            <a:ext cx="411480" cy="658368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0" y="4443984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675888" y="4443984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Storyboard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172200" y="4443984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72200" y="4443984"/>
            <a:ext cx="411480" cy="658368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72200" y="4443984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647688" y="4443984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 |  Star Schema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0" y="2194560"/>
            <a:ext cx="2194560" cy="11430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2240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FACT_ORDER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263347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• user_id • date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total_amount • rating • delivery_time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920240"/>
            <a:ext cx="2011680" cy="96012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920240"/>
            <a:ext cx="2011680" cy="29260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1920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dim_user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" y="2231136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• name • email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• join_date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" y="3474720"/>
            <a:ext cx="2011680" cy="96012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3474720"/>
            <a:ext cx="2011680" cy="29260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34747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dim_delivery_partner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" y="3785616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partner_id • name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• rating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58000" y="1097280"/>
            <a:ext cx="2011680" cy="96012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1097280"/>
            <a:ext cx="2011680" cy="29260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0972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0" y="1408176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location_id • city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• pincode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58000" y="2468880"/>
            <a:ext cx="2011680" cy="96012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2468880"/>
            <a:ext cx="2011680" cy="29260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4688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(dim_time)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779776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• month • year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• day_name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91840" y="3931920"/>
            <a:ext cx="2011680" cy="96012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931920"/>
            <a:ext cx="2011680" cy="29260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9319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dim_restaurant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91840" y="4242816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restaurant_id • name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• location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583680" y="3931920"/>
            <a:ext cx="2377440" cy="914400"/>
          </a:xfrm>
          <a:prstGeom prst="rect">
            <a:avLst/>
          </a:prstGeom>
          <a:solidFill>
            <a:srgbClr val="FF8C5A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83680" y="39319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fact_payment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83680" y="424281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 • order_id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payment_status • method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DEFINITIONS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87552"/>
            <a:ext cx="347472" cy="585216"/>
          </a:xfrm>
          <a:prstGeom prst="rect">
            <a:avLst/>
          </a:prstGeom>
          <a:solidFill>
            <a:srgbClr val="FF6B35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987552"/>
            <a:ext cx="347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5216" y="10149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Level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" y="1271016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1 food delivery order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0712" y="1124712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12471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2880" y="1627632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1627632"/>
            <a:ext cx="347472" cy="585216"/>
          </a:xfrm>
          <a:prstGeom prst="rect">
            <a:avLst/>
          </a:prstGeom>
          <a:solidFill>
            <a:srgbClr val="FF6B35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627632"/>
            <a:ext cx="347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" y="16550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Transaction Level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" y="1911096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1 payment transaction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10712" y="1764792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17647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fact_payment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82880" y="2267712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267712"/>
            <a:ext cx="347472" cy="585216"/>
          </a:xfrm>
          <a:prstGeom prst="rect">
            <a:avLst/>
          </a:prstGeom>
          <a:solidFill>
            <a:srgbClr val="FF6B35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2267712"/>
            <a:ext cx="347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5216" y="229514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Tracking Level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" y="2551176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1 delivery tracking record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10712" y="2404872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240487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fact_delivery_tracking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82880" y="2907792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82880" y="2907792"/>
            <a:ext cx="347472" cy="585216"/>
          </a:xfrm>
          <a:prstGeom prst="rect">
            <a:avLst/>
          </a:prstGeom>
          <a:solidFill>
            <a:srgbClr val="FF6B35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2907792"/>
            <a:ext cx="347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5216" y="293522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Level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5216" y="3191256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1 unique customer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10712" y="3044952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304495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dim_user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82880" y="3547872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82880" y="3547872"/>
            <a:ext cx="347472" cy="585216"/>
          </a:xfrm>
          <a:prstGeom prst="rect">
            <a:avLst/>
          </a:prstGeom>
          <a:solidFill>
            <a:srgbClr val="FF6B35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3547872"/>
            <a:ext cx="347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85216" y="357530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 Level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5216" y="3831336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1 delivery partner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10712" y="3685032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10712" y="368503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dim_delivery_partner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17720" y="987552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987552"/>
            <a:ext cx="347472" cy="585216"/>
          </a:xfrm>
          <a:prstGeom prst="rect">
            <a:avLst/>
          </a:prstGeom>
          <a:solidFill>
            <a:srgbClr val="006B6B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987552"/>
            <a:ext cx="347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20056" y="10149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Level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0056" y="1271016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1 unique location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845552" y="1124712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45552" y="112471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dim_location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617720" y="1627632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17720" y="1627632"/>
            <a:ext cx="347472" cy="585216"/>
          </a:xfrm>
          <a:prstGeom prst="rect">
            <a:avLst/>
          </a:prstGeom>
          <a:solidFill>
            <a:srgbClr val="006B6B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17720" y="1627632"/>
            <a:ext cx="347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020056" y="16550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(Day) Level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20056" y="1911096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1 calendar date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845552" y="1764792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45552" y="17647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617720" y="2267712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17720" y="2267712"/>
            <a:ext cx="347472" cy="585216"/>
          </a:xfrm>
          <a:prstGeom prst="rect">
            <a:avLst/>
          </a:prstGeom>
          <a:solidFill>
            <a:srgbClr val="006B6B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17720" y="2267712"/>
            <a:ext cx="347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020056" y="229514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Order-Date Level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020056" y="2551176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× date for time-based analysis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45552" y="2404872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45552" y="240487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617720" y="2907792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617720" y="2907792"/>
            <a:ext cx="347472" cy="585216"/>
          </a:xfrm>
          <a:prstGeom prst="rect">
            <a:avLst/>
          </a:prstGeom>
          <a:solidFill>
            <a:srgbClr val="006B6B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17720" y="2907792"/>
            <a:ext cx="347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020056" y="293522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Order-User Level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020056" y="3191256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 by a specific user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845552" y="3044952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45552" y="304495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4617720" y="3547872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617720" y="3547872"/>
            <a:ext cx="347472" cy="585216"/>
          </a:xfrm>
          <a:prstGeom prst="rect">
            <a:avLst/>
          </a:prstGeom>
          <a:solidFill>
            <a:srgbClr val="006B6B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17720" y="3547872"/>
            <a:ext cx="347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020056" y="357530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Order-Partner Level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020056" y="3831336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handled by a specific partner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845552" y="3685032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45552" y="368503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 (7 Measures)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457200" cy="68580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058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4944" y="105156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344168"/>
            <a:ext cx="3566160" cy="274320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34416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COUNT(fact_order[order_id])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" y="178308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783080"/>
            <a:ext cx="457200" cy="68580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17830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944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" y="2121408"/>
            <a:ext cx="3566160" cy="274320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12140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SUM(fact_order[total_amount])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256032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2560320"/>
            <a:ext cx="457200" cy="68580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25603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" y="26060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" y="2898648"/>
            <a:ext cx="3566160" cy="274320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8986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AVERAGE(fact_order[rating])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2880" y="333756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" y="3337560"/>
            <a:ext cx="457200" cy="68580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33375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" y="338328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" y="3675888"/>
            <a:ext cx="3566160" cy="274320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67588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AVERAGE(fact_order[delivery_time])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17720" y="100584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1005840"/>
            <a:ext cx="457200" cy="68580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10058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29784" y="105156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Payments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129784" y="1344168"/>
            <a:ext cx="3566160" cy="274320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134416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CALCULATE(COUNT(...), status = "Success")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17720" y="178308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1783080"/>
            <a:ext cx="457200" cy="68580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17830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129784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Orders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129784" y="2121408"/>
            <a:ext cx="3566160" cy="274320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212140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CALCULATE(COUNT(...), status = "CANCELLED")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17720" y="256032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17720" y="2560320"/>
            <a:ext cx="457200" cy="68580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7720" y="25603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129784" y="26060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129784" y="2898648"/>
            <a:ext cx="3566160" cy="274320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66360" y="28986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DIVIDE([Total Revenue], [Total Orders])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 (7 Columns)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457200" cy="6858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058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4944" y="105156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Month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344168"/>
            <a:ext cx="3566160" cy="274320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34416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MONTH(fact_order[date])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29000" y="1060704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006B6B">
              <a:alpha val="20000"/>
            </a:srgbClr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060704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" y="178308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1783080"/>
            <a:ext cx="457200" cy="6858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17830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Year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" y="2121408"/>
            <a:ext cx="3566160" cy="274320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12140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YEAR(fact_order[date])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29000" y="1837944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006B6B">
              <a:alpha val="20000"/>
            </a:srgbClr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1837944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" y="256032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560320"/>
            <a:ext cx="457200" cy="6858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25603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" y="26060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Name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" y="2898648"/>
            <a:ext cx="3566160" cy="274320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8986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FORMAT(fact_order[date], "MMMM")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29000" y="2615184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006B6B">
              <a:alpha val="20000"/>
            </a:srgbClr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2615184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" y="333756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3337560"/>
            <a:ext cx="457200" cy="6858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33375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" y="338328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Name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4944" y="3675888"/>
            <a:ext cx="3566160" cy="274320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367588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FORMAT(fact_order[date], "dddd")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429000" y="3392424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006B6B">
              <a:alpha val="20000"/>
            </a:srgbClr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3392424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17720" y="100584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17720" y="1005840"/>
            <a:ext cx="45720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10058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29784" y="105156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Category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129784" y="1344168"/>
            <a:ext cx="3566160" cy="274320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134416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IF(total_amount &gt; 500, "High", "Low")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863840" y="1060704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FF6B35">
              <a:alpha val="2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63840" y="1060704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17720" y="178308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17720" y="1783080"/>
            <a:ext cx="45720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0" y="17830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29784" y="18288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Speed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129784" y="2121408"/>
            <a:ext cx="3566160" cy="274320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66360" y="212140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IF(delivery_time &lt;= 30, "Fast", "Slow")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863840" y="1837944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FF6B35">
              <a:alpha val="2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63840" y="1837944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17720" y="256032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17720" y="2560320"/>
            <a:ext cx="45720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17720" y="25603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129784" y="26060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Category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129784" y="2898648"/>
            <a:ext cx="3566160" cy="274320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66360" y="28986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IF(rating &gt;= 4, "Good", "Poor")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863840" y="2615184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FF6B35">
              <a:alpha val="2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63840" y="2615184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>
            <a:extLst>
              <a:ext uri="{FF2B5EF4-FFF2-40B4-BE49-F238E27FC236}">
                <a16:creationId xmlns:a16="http://schemas.microsoft.com/office/drawing/2014/main" id="{1AA119BD-CCF2-2D2A-5560-D9F2092A94F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 FUNCTIONS  (10 Functions)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420624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41248"/>
            <a:ext cx="9144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4124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877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1155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TODAY()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499616"/>
            <a:ext cx="420624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499616"/>
            <a:ext cx="9144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49961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536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Yesterday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17739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DATEADD(..., -1, DAY)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157984"/>
            <a:ext cx="420624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157984"/>
            <a:ext cx="9144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15798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2194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Last 7 Days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24323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DATESINPERIOD(..., -7, DAY)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816352"/>
            <a:ext cx="420624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00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816352"/>
            <a:ext cx="91440" cy="5486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81635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28529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This Month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0906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DATESMTD(...)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3474720"/>
            <a:ext cx="420624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00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474720"/>
            <a:ext cx="91440" cy="5486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474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3511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Last Month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3749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PREVIOUSMONTH(...)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841248"/>
            <a:ext cx="420624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841248"/>
            <a:ext cx="91440" cy="548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84124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66360" y="877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This Year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11155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DATESYTD(...)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1499616"/>
            <a:ext cx="420624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1499616"/>
            <a:ext cx="91440" cy="548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149961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66360" y="1536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Last Year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17739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SAMEPERIODLASTYEAR(...)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2157984"/>
            <a:ext cx="420624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00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2157984"/>
            <a:ext cx="91440" cy="5486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215798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66360" y="2194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MTD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66360" y="24323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DATESMTD(...)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09160" y="2816352"/>
            <a:ext cx="420624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2816352"/>
            <a:ext cx="91440" cy="548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281635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66360" y="28529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YTD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66360" y="30906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DATESYTD(...)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9160" y="3474720"/>
            <a:ext cx="420624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3474720"/>
            <a:ext cx="91440" cy="5486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64608" y="3474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66360" y="3511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(Base)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166360" y="3749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COUNT(fact_order[order_id])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VISUALS  (7.5 Visuals)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011680" cy="91440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0058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0241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12,480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1005840"/>
            <a:ext cx="2011680" cy="9144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0058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26080" y="10241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₹6.2M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26080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2011680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0058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66360" y="10241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66360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03720" y="1005840"/>
            <a:ext cx="2011680" cy="91440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10058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06640" y="10241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min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06640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2057400"/>
            <a:ext cx="4206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21214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Revenue by Month</a:t>
            </a:r>
            <a:endParaRPr lang="en-US" sz="12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228600" y="2395728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Shape 21"/>
          <p:cNvSpPr/>
          <p:nvPr/>
        </p:nvSpPr>
        <p:spPr>
          <a:xfrm>
            <a:off x="4617720" y="2057400"/>
            <a:ext cx="4251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754880" y="21214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 Orders by Category</a:t>
            </a:r>
            <a:endParaRPr lang="en-US" sz="1200" dirty="0"/>
          </a:p>
        </p:txBody>
      </p:sp>
      <p:graphicFrame>
        <p:nvGraphicFramePr>
          <p:cNvPr id="26" name="Chart 1"/>
          <p:cNvGraphicFramePr/>
          <p:nvPr/>
        </p:nvGraphicFramePr>
        <p:xfrm>
          <a:off x="4663440" y="2395728"/>
          <a:ext cx="41605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DATA STORYTELLING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87552"/>
            <a:ext cx="2743200" cy="6400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078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0789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Peak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4630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records the highest revenue (₹1.25M), indicating seasonal demand surge — likely due to summer festival orders. Businesses should pre-stock and boost delivery capacity in Q2.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987552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87552"/>
            <a:ext cx="27432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1078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10789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Speed Gap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4630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of orders fall in the 'Slow' delivery category (&gt;30 min). Optimizing delivery routes in high-density urban zones could cut avg delivery time by ~20%.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987552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987552"/>
            <a:ext cx="274320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1078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75120" y="10789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Pattern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4630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delivery time ≤ 30 min achieve an avg rating of 4.5 vs 3.7 for slower deliveries. Speed is directly correlated with customer satisfaction.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450592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450592"/>
            <a:ext cx="2743200" cy="64008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2542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25420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Success Rate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292608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95.2% payment success rate indicates a robust payment system. Failed payments are concentrated on Cash-on-Delivery (COD) method, highlighting a digital payment adoption gap.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450592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450592"/>
            <a:ext cx="2743200" cy="640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2542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703320" y="25420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Hotspot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292608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orders peak on Monday mornings and Friday evenings. Proactive partner allocation during these windows can reduce cancellation rates by an estimated 15%.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2450592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2450592"/>
            <a:ext cx="2743200" cy="6400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2542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675120" y="25420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 Alignment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292608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food delivery supports SDG Goal 11 (Sustainable Cities). Route optimization data can be shared with urban planners to reduce traffic congestion and carbon emissions.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>
            <a:extLst>
              <a:ext uri="{FF2B5EF4-FFF2-40B4-BE49-F238E27FC236}">
                <a16:creationId xmlns:a16="http://schemas.microsoft.com/office/drawing/2014/main" id="{80186107-2F56-E8BD-1691-8AD486412837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GOAL MAPPING &amp; STORYBOARD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114800" cy="3931920"/>
          </a:xfrm>
          <a:prstGeom prst="rect">
            <a:avLst/>
          </a:prstGeom>
          <a:solidFill>
            <a:srgbClr val="1A1A1A"/>
          </a:solidFill>
          <a:ln w="12700">
            <a:solidFill>
              <a:srgbClr val="00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SDG GOAL ALIGNMENT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3913632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71600"/>
            <a:ext cx="73152" cy="5486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99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 – No Poverty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income for delivery partners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993392"/>
            <a:ext cx="3913632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93392"/>
            <a:ext cx="73152" cy="5486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208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8 – Decent 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2677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fair-wage delivery job ecosystem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615184"/>
            <a:ext cx="3913632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615184"/>
            <a:ext cx="73152" cy="5486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426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 – Industry &amp; Innovation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8895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Tech-driven delivery infrastructure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236976"/>
            <a:ext cx="3913632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236976"/>
            <a:ext cx="73152" cy="5486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64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 – Sustainable Cities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511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reduces urban traffic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858768"/>
            <a:ext cx="3913632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858768"/>
            <a:ext cx="73152" cy="5486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 – Responsible Consumption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1330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food waste via demand analytics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868680"/>
            <a:ext cx="4389120" cy="3931920"/>
          </a:xfrm>
          <a:prstGeom prst="rect">
            <a:avLst/>
          </a:prstGeom>
          <a:solidFill>
            <a:srgbClr val="1A1A1A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914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DATA STORYBOARD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1408176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4081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02352" y="13898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Scene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02352" y="16184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food delivery landscape &amp; scope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1956816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956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02352" y="1938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02352" y="21671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deliveries + cancellations hurt revenue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2505456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5054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02352" y="24871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02352" y="2715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orders, payments &amp; tracking data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3054096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054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02352" y="30358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Discovery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02352" y="32644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times, top cuisines, partner performance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3602736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36027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02352" y="35844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02352" y="38130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= satisfaction; digital pay drives retention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63440" y="4151376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41513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02352" y="41330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102352" y="43616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&amp; partner allocation strategy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rget &amp; Revenue DAX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8" name="DoodleRect_182880_182880"/>
          <p:cNvSpPr/>
          <p:nvPr/>
        </p:nvSpPr>
        <p:spPr>
          <a:xfrm>
            <a:off x="182880" y="182880"/>
            <a:ext cx="8778240" cy="548640"/>
          </a:xfrm>
          <a:prstGeom prst="rect">
            <a:avLst/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9999" name="DoodleText_274320_182880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TARGET &amp; REVENUE DAX MEASURES</a:t>
            </a:r>
          </a:p>
        </p:txBody>
      </p:sp>
      <p:sp>
        <p:nvSpPr>
          <p:cNvPr id="2" name="DoodleText_274320_777240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</a:rPr>
              <a:t>From Revenue vs Target Analysis &amp; Smart Delivery Insights Pages</a:t>
            </a:r>
          </a:p>
        </p:txBody>
      </p:sp>
      <p:sp>
        <p:nvSpPr>
          <p:cNvPr id="3" name="DoodleRect_182880_822960"/>
          <p:cNvSpPr/>
          <p:nvPr/>
        </p:nvSpPr>
        <p:spPr>
          <a:xfrm>
            <a:off x="182880" y="822960"/>
            <a:ext cx="4298640" cy="174879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" name="DoodleRect_182880_822960"/>
          <p:cNvSpPr/>
          <p:nvPr/>
        </p:nvSpPr>
        <p:spPr>
          <a:xfrm>
            <a:off x="174320" y="1167731"/>
            <a:ext cx="108560" cy="1108858"/>
          </a:xfrm>
          <a:prstGeom prst="rect">
            <a:avLst/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" name="DoodleText_282880_872960"/>
          <p:cNvSpPr/>
          <p:nvPr/>
        </p:nvSpPr>
        <p:spPr>
          <a:xfrm>
            <a:off x="282880" y="872960"/>
            <a:ext cx="3800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Segoe UI Emoji" pitchFamily="34" charset="0"/>
              </a:rPr>
              <a:t>🎯</a:t>
            </a:r>
          </a:p>
        </p:txBody>
      </p:sp>
      <p:sp>
        <p:nvSpPr>
          <p:cNvPr id="6" name="DoodleText_662940_882960"/>
          <p:cNvSpPr/>
          <p:nvPr/>
        </p:nvSpPr>
        <p:spPr>
          <a:xfrm>
            <a:off x="662940" y="882960"/>
            <a:ext cx="372714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</a:rPr>
              <a:t>Target Revenue</a:t>
            </a:r>
          </a:p>
        </p:txBody>
      </p:sp>
      <p:sp>
        <p:nvSpPr>
          <p:cNvPr id="7" name="DoodleRect_662940_1143000"/>
          <p:cNvSpPr/>
          <p:nvPr/>
        </p:nvSpPr>
        <p:spPr>
          <a:xfrm>
            <a:off x="662940" y="1142999"/>
            <a:ext cx="3727140" cy="953589"/>
          </a:xfrm>
          <a:prstGeom prst="rect">
            <a:avLst/>
          </a:prstGeom>
          <a:solidFill>
            <a:srgbClr val="E8E4DC"/>
          </a:solidFill>
          <a:ln w="12700">
            <a:solidFill>
              <a:srgbClr val="D4C9B0"/>
            </a:solidFill>
            <a:prstDash val="solid"/>
          </a:ln>
        </p:spPr>
      </p:sp>
      <p:sp>
        <p:nvSpPr>
          <p:cNvPr id="8" name="DoodleText_722940_1183000"/>
          <p:cNvSpPr/>
          <p:nvPr/>
        </p:nvSpPr>
        <p:spPr>
          <a:xfrm>
            <a:off x="722940" y="1183000"/>
            <a:ext cx="3607140" cy="159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006B6B"/>
                </a:solidFill>
                <a:latin typeface="Consolas" pitchFamily="34" charset="0"/>
              </a:rPr>
              <a:t>Target Revenue =
CALCULATE(
  SUM(fact_order[total_amount]),
  Calendar[IsTarget] = TRUE
)</a:t>
            </a:r>
          </a:p>
        </p:txBody>
      </p:sp>
      <p:sp>
        <p:nvSpPr>
          <p:cNvPr id="9" name="DoodleText_662940_1412960"/>
          <p:cNvSpPr/>
          <p:nvPr/>
        </p:nvSpPr>
        <p:spPr>
          <a:xfrm>
            <a:off x="662940" y="2126588"/>
            <a:ext cx="3727140" cy="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4A4A4A"/>
                </a:solidFill>
                <a:latin typeface="Calibri" pitchFamily="34" charset="0"/>
              </a:rPr>
              <a:t>Revenue goal per period</a:t>
            </a:r>
          </a:p>
        </p:txBody>
      </p:sp>
      <p:sp>
        <p:nvSpPr>
          <p:cNvPr id="10" name="DoodleRect_4664400_822960"/>
          <p:cNvSpPr/>
          <p:nvPr/>
        </p:nvSpPr>
        <p:spPr>
          <a:xfrm>
            <a:off x="4664400" y="822959"/>
            <a:ext cx="4298640" cy="174878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1" name="DoodleRect_4664400_822960"/>
          <p:cNvSpPr/>
          <p:nvPr/>
        </p:nvSpPr>
        <p:spPr>
          <a:xfrm>
            <a:off x="4662482" y="1097279"/>
            <a:ext cx="101918" cy="1179309"/>
          </a:xfrm>
          <a:prstGeom prst="rect">
            <a:avLst/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2" name="DoodleText_4764400_872960"/>
          <p:cNvSpPr/>
          <p:nvPr/>
        </p:nvSpPr>
        <p:spPr>
          <a:xfrm>
            <a:off x="4764400" y="872960"/>
            <a:ext cx="3800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Segoe UI Emoji" pitchFamily="34" charset="0"/>
              </a:rPr>
              <a:t>📦</a:t>
            </a:r>
          </a:p>
        </p:txBody>
      </p:sp>
      <p:sp>
        <p:nvSpPr>
          <p:cNvPr id="13" name="DoodleText_5144460_882960"/>
          <p:cNvSpPr/>
          <p:nvPr/>
        </p:nvSpPr>
        <p:spPr>
          <a:xfrm>
            <a:off x="5144460" y="882960"/>
            <a:ext cx="372714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</a:rPr>
              <a:t>Target Orders</a:t>
            </a:r>
          </a:p>
        </p:txBody>
      </p:sp>
      <p:sp>
        <p:nvSpPr>
          <p:cNvPr id="14" name="DoodleRect_5144460_1143000"/>
          <p:cNvSpPr/>
          <p:nvPr/>
        </p:nvSpPr>
        <p:spPr>
          <a:xfrm>
            <a:off x="5144460" y="1143000"/>
            <a:ext cx="3727140" cy="953588"/>
          </a:xfrm>
          <a:prstGeom prst="rect">
            <a:avLst/>
          </a:prstGeom>
          <a:solidFill>
            <a:srgbClr val="E8E4DC"/>
          </a:solidFill>
          <a:ln w="12700">
            <a:solidFill>
              <a:srgbClr val="D4C9B0"/>
            </a:solidFill>
            <a:prstDash val="solid"/>
          </a:ln>
        </p:spPr>
      </p:sp>
      <p:sp>
        <p:nvSpPr>
          <p:cNvPr id="15" name="DoodleText_5204460_1183000"/>
          <p:cNvSpPr/>
          <p:nvPr/>
        </p:nvSpPr>
        <p:spPr>
          <a:xfrm>
            <a:off x="5204460" y="1182999"/>
            <a:ext cx="3607140" cy="868755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006B6B"/>
                </a:solidFill>
                <a:latin typeface="Consolas" pitchFamily="34" charset="0"/>
              </a:rPr>
              <a:t>Target Orders =
CALCULATE(
  COUNT(fact_order[order_id]),
  Calendar[IsTarget] = TRUE
)</a:t>
            </a:r>
          </a:p>
        </p:txBody>
      </p:sp>
      <p:sp>
        <p:nvSpPr>
          <p:cNvPr id="16" name="DoodleText_5144460_1412960"/>
          <p:cNvSpPr/>
          <p:nvPr/>
        </p:nvSpPr>
        <p:spPr>
          <a:xfrm>
            <a:off x="5084460" y="2126589"/>
            <a:ext cx="3727140" cy="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4A4A4A"/>
                </a:solidFill>
                <a:latin typeface="Calibri" pitchFamily="34" charset="0"/>
              </a:rPr>
              <a:t>Order count goal per period</a:t>
            </a:r>
          </a:p>
        </p:txBody>
      </p:sp>
      <p:sp>
        <p:nvSpPr>
          <p:cNvPr id="17" name="DoodleRect_182880_1702960"/>
          <p:cNvSpPr/>
          <p:nvPr/>
        </p:nvSpPr>
        <p:spPr>
          <a:xfrm>
            <a:off x="182880" y="3270502"/>
            <a:ext cx="4298640" cy="174878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8" name="DoodleRect_182880_1702960"/>
          <p:cNvSpPr/>
          <p:nvPr/>
        </p:nvSpPr>
        <p:spPr>
          <a:xfrm>
            <a:off x="191440" y="3623080"/>
            <a:ext cx="91440" cy="1108857"/>
          </a:xfrm>
          <a:prstGeom prst="rect">
            <a:avLst/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9" name="DoodleText_282880_1752960"/>
          <p:cNvSpPr/>
          <p:nvPr/>
        </p:nvSpPr>
        <p:spPr>
          <a:xfrm>
            <a:off x="282880" y="3320503"/>
            <a:ext cx="3800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Segoe UI Emoji" pitchFamily="34" charset="0"/>
              </a:rPr>
              <a:t>⏱</a:t>
            </a:r>
          </a:p>
        </p:txBody>
      </p:sp>
      <p:sp>
        <p:nvSpPr>
          <p:cNvPr id="20" name="DoodleText_662940_1762960"/>
          <p:cNvSpPr/>
          <p:nvPr/>
        </p:nvSpPr>
        <p:spPr>
          <a:xfrm>
            <a:off x="662940" y="3330503"/>
            <a:ext cx="372714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</a:rPr>
              <a:t>Target Delivery Time</a:t>
            </a:r>
          </a:p>
        </p:txBody>
      </p:sp>
      <p:sp>
        <p:nvSpPr>
          <p:cNvPr id="21" name="DoodleRect_662940_2023000"/>
          <p:cNvSpPr/>
          <p:nvPr/>
        </p:nvSpPr>
        <p:spPr>
          <a:xfrm>
            <a:off x="662940" y="3590542"/>
            <a:ext cx="3727140" cy="890017"/>
          </a:xfrm>
          <a:prstGeom prst="rect">
            <a:avLst/>
          </a:prstGeom>
          <a:solidFill>
            <a:srgbClr val="E8E4DC"/>
          </a:solidFill>
          <a:ln w="12700">
            <a:solidFill>
              <a:srgbClr val="D4C9B0"/>
            </a:solidFill>
            <a:prstDash val="solid"/>
          </a:ln>
        </p:spPr>
      </p:sp>
      <p:sp>
        <p:nvSpPr>
          <p:cNvPr id="22" name="DoodleText_722940_2063000"/>
          <p:cNvSpPr/>
          <p:nvPr/>
        </p:nvSpPr>
        <p:spPr>
          <a:xfrm>
            <a:off x="722940" y="3630542"/>
            <a:ext cx="3607140" cy="804297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006B6B"/>
                </a:solidFill>
                <a:latin typeface="Consolas" pitchFamily="34" charset="0"/>
              </a:rPr>
              <a:t>Target Delivery Time =
CALCULATE(
  AVERAGE(fact_order[delivery_time]),
  Calendar[IsTarget] = TRUE
)</a:t>
            </a:r>
          </a:p>
        </p:txBody>
      </p:sp>
      <p:sp>
        <p:nvSpPr>
          <p:cNvPr id="23" name="DoodleText_662940_2292960"/>
          <p:cNvSpPr/>
          <p:nvPr/>
        </p:nvSpPr>
        <p:spPr>
          <a:xfrm>
            <a:off x="662940" y="4486484"/>
            <a:ext cx="3727140" cy="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4A4A4A"/>
                </a:solidFill>
                <a:latin typeface="Calibri" pitchFamily="34" charset="0"/>
              </a:rPr>
              <a:t>Target avg delivery ≤ 30 min</a:t>
            </a:r>
          </a:p>
        </p:txBody>
      </p:sp>
      <p:sp>
        <p:nvSpPr>
          <p:cNvPr id="24" name="DoodleRect_4664400_1702960"/>
          <p:cNvSpPr/>
          <p:nvPr/>
        </p:nvSpPr>
        <p:spPr>
          <a:xfrm>
            <a:off x="4664400" y="3240543"/>
            <a:ext cx="4298640" cy="17487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5" name="DoodleRect_4664400_1702960"/>
          <p:cNvSpPr/>
          <p:nvPr/>
        </p:nvSpPr>
        <p:spPr>
          <a:xfrm>
            <a:off x="4645352" y="3574111"/>
            <a:ext cx="101918" cy="1157825"/>
          </a:xfrm>
          <a:prstGeom prst="rect">
            <a:avLst/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6" name="DoodleText_4764400_1752960"/>
          <p:cNvSpPr/>
          <p:nvPr/>
        </p:nvSpPr>
        <p:spPr>
          <a:xfrm>
            <a:off x="4764400" y="3290543"/>
            <a:ext cx="3800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Segoe UI Emoji" pitchFamily="34" charset="0"/>
              </a:rPr>
              <a:t>📊</a:t>
            </a:r>
          </a:p>
        </p:txBody>
      </p:sp>
      <p:sp>
        <p:nvSpPr>
          <p:cNvPr id="27" name="DoodleText_5144460_1762960"/>
          <p:cNvSpPr/>
          <p:nvPr/>
        </p:nvSpPr>
        <p:spPr>
          <a:xfrm>
            <a:off x="5144460" y="3300543"/>
            <a:ext cx="372714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</a:rPr>
              <a:t>Revenue per Order</a:t>
            </a:r>
          </a:p>
        </p:txBody>
      </p:sp>
      <p:sp>
        <p:nvSpPr>
          <p:cNvPr id="28" name="DoodleRect_5144460_2023000"/>
          <p:cNvSpPr/>
          <p:nvPr/>
        </p:nvSpPr>
        <p:spPr>
          <a:xfrm>
            <a:off x="5144460" y="3560582"/>
            <a:ext cx="3727140" cy="919977"/>
          </a:xfrm>
          <a:prstGeom prst="rect">
            <a:avLst/>
          </a:prstGeom>
          <a:solidFill>
            <a:srgbClr val="E8E4DC"/>
          </a:solidFill>
          <a:ln w="12700">
            <a:solidFill>
              <a:srgbClr val="D4C9B0"/>
            </a:solidFill>
            <a:prstDash val="solid"/>
          </a:ln>
        </p:spPr>
      </p:sp>
      <p:sp>
        <p:nvSpPr>
          <p:cNvPr id="29" name="DoodleText_5204460_2063000"/>
          <p:cNvSpPr/>
          <p:nvPr/>
        </p:nvSpPr>
        <p:spPr>
          <a:xfrm>
            <a:off x="5204460" y="3600583"/>
            <a:ext cx="3607140" cy="159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006B6B"/>
                </a:solidFill>
                <a:latin typeface="Consolas" pitchFamily="34" charset="0"/>
              </a:rPr>
              <a:t>Revenue per Order =
DIVIDE(
  [Total Revenue],
  [Total Orders],
  0
)</a:t>
            </a:r>
          </a:p>
        </p:txBody>
      </p:sp>
      <p:sp>
        <p:nvSpPr>
          <p:cNvPr id="30" name="DoodleText_5144460_2292960"/>
          <p:cNvSpPr/>
          <p:nvPr/>
        </p:nvSpPr>
        <p:spPr>
          <a:xfrm>
            <a:off x="5144460" y="4581936"/>
            <a:ext cx="3727140" cy="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4A4A4A"/>
                </a:solidFill>
                <a:latin typeface="Calibri" pitchFamily="34" charset="0"/>
              </a:rPr>
              <a:t>Avg revenue per transaction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3255A3-8C2E-2192-D879-26930AC20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8" name="DoodleRect_182880_182880">
            <a:extLst>
              <a:ext uri="{FF2B5EF4-FFF2-40B4-BE49-F238E27FC236}">
                <a16:creationId xmlns:a16="http://schemas.microsoft.com/office/drawing/2014/main" id="{D6FB065D-E8C3-0459-8C83-450A86FE91E7}"/>
              </a:ext>
            </a:extLst>
          </p:cNvPr>
          <p:cNvSpPr/>
          <p:nvPr/>
        </p:nvSpPr>
        <p:spPr>
          <a:xfrm>
            <a:off x="182880" y="182880"/>
            <a:ext cx="8778240" cy="548640"/>
          </a:xfrm>
          <a:prstGeom prst="rect">
            <a:avLst/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9999" name="DoodleText_274320_182880">
            <a:extLst>
              <a:ext uri="{FF2B5EF4-FFF2-40B4-BE49-F238E27FC236}">
                <a16:creationId xmlns:a16="http://schemas.microsoft.com/office/drawing/2014/main" id="{7371AF8E-36B4-03AB-DDA3-FC59D71EE134}"/>
              </a:ext>
            </a:extLst>
          </p:cNvPr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TARGET &amp; REVENUE DAX MEASURES</a:t>
            </a:r>
          </a:p>
        </p:txBody>
      </p:sp>
      <p:sp>
        <p:nvSpPr>
          <p:cNvPr id="31" name="DoodleRect_182880_2582960">
            <a:extLst>
              <a:ext uri="{FF2B5EF4-FFF2-40B4-BE49-F238E27FC236}">
                <a16:creationId xmlns:a16="http://schemas.microsoft.com/office/drawing/2014/main" id="{F7A2FA86-D3B5-FBB6-8FC5-0E26D7828740}"/>
              </a:ext>
            </a:extLst>
          </p:cNvPr>
          <p:cNvSpPr/>
          <p:nvPr/>
        </p:nvSpPr>
        <p:spPr>
          <a:xfrm>
            <a:off x="180960" y="897240"/>
            <a:ext cx="4298640" cy="167451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2" name="DoodleRect_182880_2582960">
            <a:extLst>
              <a:ext uri="{FF2B5EF4-FFF2-40B4-BE49-F238E27FC236}">
                <a16:creationId xmlns:a16="http://schemas.microsoft.com/office/drawing/2014/main" id="{A485475C-79A2-D6EE-EF61-A443EDCFE485}"/>
              </a:ext>
            </a:extLst>
          </p:cNvPr>
          <p:cNvSpPr/>
          <p:nvPr/>
        </p:nvSpPr>
        <p:spPr>
          <a:xfrm>
            <a:off x="189520" y="1162239"/>
            <a:ext cx="84800" cy="1130291"/>
          </a:xfrm>
          <a:prstGeom prst="rect">
            <a:avLst/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3" name="DoodleText_282880_2632960">
            <a:extLst>
              <a:ext uri="{FF2B5EF4-FFF2-40B4-BE49-F238E27FC236}">
                <a16:creationId xmlns:a16="http://schemas.microsoft.com/office/drawing/2014/main" id="{481236A4-0A61-8FF3-12D4-8FD45210C0F0}"/>
              </a:ext>
            </a:extLst>
          </p:cNvPr>
          <p:cNvSpPr/>
          <p:nvPr/>
        </p:nvSpPr>
        <p:spPr>
          <a:xfrm>
            <a:off x="280960" y="947240"/>
            <a:ext cx="3800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Segoe UI Emoji" pitchFamily="34" charset="0"/>
              </a:rPr>
              <a:t>❌</a:t>
            </a:r>
          </a:p>
        </p:txBody>
      </p:sp>
      <p:sp>
        <p:nvSpPr>
          <p:cNvPr id="34" name="DoodleText_662940_2642960">
            <a:extLst>
              <a:ext uri="{FF2B5EF4-FFF2-40B4-BE49-F238E27FC236}">
                <a16:creationId xmlns:a16="http://schemas.microsoft.com/office/drawing/2014/main" id="{6DE82A8D-A45E-D74F-EFDC-225CDB0B3E12}"/>
              </a:ext>
            </a:extLst>
          </p:cNvPr>
          <p:cNvSpPr/>
          <p:nvPr/>
        </p:nvSpPr>
        <p:spPr>
          <a:xfrm>
            <a:off x="661020" y="957240"/>
            <a:ext cx="372714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</a:rPr>
              <a:t>Target Cancellation %</a:t>
            </a:r>
          </a:p>
        </p:txBody>
      </p:sp>
      <p:sp>
        <p:nvSpPr>
          <p:cNvPr id="35" name="DoodleRect_662940_2903000">
            <a:extLst>
              <a:ext uri="{FF2B5EF4-FFF2-40B4-BE49-F238E27FC236}">
                <a16:creationId xmlns:a16="http://schemas.microsoft.com/office/drawing/2014/main" id="{63DB1233-4DA5-A065-C02A-20DB8D38CCD2}"/>
              </a:ext>
            </a:extLst>
          </p:cNvPr>
          <p:cNvSpPr/>
          <p:nvPr/>
        </p:nvSpPr>
        <p:spPr>
          <a:xfrm>
            <a:off x="661020" y="1217280"/>
            <a:ext cx="3727140" cy="911170"/>
          </a:xfrm>
          <a:prstGeom prst="rect">
            <a:avLst/>
          </a:prstGeom>
          <a:solidFill>
            <a:srgbClr val="E8E4DC"/>
          </a:solidFill>
          <a:ln w="12700">
            <a:solidFill>
              <a:srgbClr val="D4C9B0"/>
            </a:solidFill>
            <a:prstDash val="solid"/>
          </a:ln>
        </p:spPr>
      </p:sp>
      <p:sp>
        <p:nvSpPr>
          <p:cNvPr id="36" name="DoodleText_722940_2943000">
            <a:extLst>
              <a:ext uri="{FF2B5EF4-FFF2-40B4-BE49-F238E27FC236}">
                <a16:creationId xmlns:a16="http://schemas.microsoft.com/office/drawing/2014/main" id="{1A64ABDD-A010-9872-6765-9F3058DA9D0E}"/>
              </a:ext>
            </a:extLst>
          </p:cNvPr>
          <p:cNvSpPr/>
          <p:nvPr/>
        </p:nvSpPr>
        <p:spPr>
          <a:xfrm>
            <a:off x="722940" y="1247240"/>
            <a:ext cx="3607140" cy="8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006B6B"/>
                </a:solidFill>
                <a:latin typeface="Consolas" pitchFamily="34" charset="0"/>
              </a:rPr>
              <a:t>Target Cancellation % =
DIVIDE(
  CALCULATE(COUNT(fact_order[order_id]),
    fact_order[status] = "CANCELLED"),
  [Total Orders], 0
) * 100</a:t>
            </a:r>
          </a:p>
        </p:txBody>
      </p:sp>
      <p:sp>
        <p:nvSpPr>
          <p:cNvPr id="37" name="DoodleText_662940_3172960">
            <a:extLst>
              <a:ext uri="{FF2B5EF4-FFF2-40B4-BE49-F238E27FC236}">
                <a16:creationId xmlns:a16="http://schemas.microsoft.com/office/drawing/2014/main" id="{31DA18AB-3D5F-E7B1-1151-866D1CED35B1}"/>
              </a:ext>
            </a:extLst>
          </p:cNvPr>
          <p:cNvSpPr/>
          <p:nvPr/>
        </p:nvSpPr>
        <p:spPr>
          <a:xfrm>
            <a:off x="661020" y="2147136"/>
            <a:ext cx="3727140" cy="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4A4A4A"/>
                </a:solidFill>
                <a:latin typeface="Calibri" pitchFamily="34" charset="0"/>
              </a:rPr>
              <a:t>Target: keep below 5%</a:t>
            </a:r>
          </a:p>
        </p:txBody>
      </p:sp>
      <p:sp>
        <p:nvSpPr>
          <p:cNvPr id="38" name="DoodleRect_4664400_2582960">
            <a:extLst>
              <a:ext uri="{FF2B5EF4-FFF2-40B4-BE49-F238E27FC236}">
                <a16:creationId xmlns:a16="http://schemas.microsoft.com/office/drawing/2014/main" id="{C13EAE30-3113-BF33-04BE-EE7ECA5A723B}"/>
              </a:ext>
            </a:extLst>
          </p:cNvPr>
          <p:cNvSpPr/>
          <p:nvPr/>
        </p:nvSpPr>
        <p:spPr>
          <a:xfrm>
            <a:off x="4662480" y="897240"/>
            <a:ext cx="4298640" cy="167451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9" name="DoodleRect_4664400_2582960">
            <a:extLst>
              <a:ext uri="{FF2B5EF4-FFF2-40B4-BE49-F238E27FC236}">
                <a16:creationId xmlns:a16="http://schemas.microsoft.com/office/drawing/2014/main" id="{DADFE17E-EC8C-9576-A846-2501C2280516}"/>
              </a:ext>
            </a:extLst>
          </p:cNvPr>
          <p:cNvSpPr/>
          <p:nvPr/>
        </p:nvSpPr>
        <p:spPr>
          <a:xfrm>
            <a:off x="4683420" y="1217279"/>
            <a:ext cx="80980" cy="1016469"/>
          </a:xfrm>
          <a:prstGeom prst="rect">
            <a:avLst/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0" name="DoodleText_4764400_2632960">
            <a:extLst>
              <a:ext uri="{FF2B5EF4-FFF2-40B4-BE49-F238E27FC236}">
                <a16:creationId xmlns:a16="http://schemas.microsoft.com/office/drawing/2014/main" id="{E1F0D6B2-0C7B-121B-2169-67051D1FB595}"/>
              </a:ext>
            </a:extLst>
          </p:cNvPr>
          <p:cNvSpPr/>
          <p:nvPr/>
        </p:nvSpPr>
        <p:spPr>
          <a:xfrm>
            <a:off x="4762480" y="947240"/>
            <a:ext cx="3800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Segoe UI Emoji" pitchFamily="34" charset="0"/>
              </a:rPr>
              <a:t>📈</a:t>
            </a:r>
          </a:p>
        </p:txBody>
      </p:sp>
      <p:sp>
        <p:nvSpPr>
          <p:cNvPr id="41" name="DoodleText_5144460_2642960">
            <a:extLst>
              <a:ext uri="{FF2B5EF4-FFF2-40B4-BE49-F238E27FC236}">
                <a16:creationId xmlns:a16="http://schemas.microsoft.com/office/drawing/2014/main" id="{B7B502C8-A5B8-E01D-2F02-1F0977FE37D5}"/>
              </a:ext>
            </a:extLst>
          </p:cNvPr>
          <p:cNvSpPr/>
          <p:nvPr/>
        </p:nvSpPr>
        <p:spPr>
          <a:xfrm>
            <a:off x="5142540" y="957240"/>
            <a:ext cx="372714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</a:rPr>
              <a:t>Orders Growth %</a:t>
            </a:r>
          </a:p>
        </p:txBody>
      </p:sp>
      <p:sp>
        <p:nvSpPr>
          <p:cNvPr id="42" name="DoodleRect_5144460_2903000">
            <a:extLst>
              <a:ext uri="{FF2B5EF4-FFF2-40B4-BE49-F238E27FC236}">
                <a16:creationId xmlns:a16="http://schemas.microsoft.com/office/drawing/2014/main" id="{BD5E79AA-F4D2-7961-E845-F87A85BC31FC}"/>
              </a:ext>
            </a:extLst>
          </p:cNvPr>
          <p:cNvSpPr/>
          <p:nvPr/>
        </p:nvSpPr>
        <p:spPr>
          <a:xfrm>
            <a:off x="5142540" y="1217280"/>
            <a:ext cx="3727140" cy="911170"/>
          </a:xfrm>
          <a:prstGeom prst="rect">
            <a:avLst/>
          </a:prstGeom>
          <a:solidFill>
            <a:srgbClr val="E8E4DC"/>
          </a:solidFill>
          <a:ln w="12700">
            <a:solidFill>
              <a:srgbClr val="D4C9B0"/>
            </a:solidFill>
            <a:prstDash val="solid"/>
          </a:ln>
        </p:spPr>
      </p:sp>
      <p:sp>
        <p:nvSpPr>
          <p:cNvPr id="43" name="DoodleText_5204460_2943000">
            <a:extLst>
              <a:ext uri="{FF2B5EF4-FFF2-40B4-BE49-F238E27FC236}">
                <a16:creationId xmlns:a16="http://schemas.microsoft.com/office/drawing/2014/main" id="{5EB7A89D-F273-979B-A223-9628DBD7F485}"/>
              </a:ext>
            </a:extLst>
          </p:cNvPr>
          <p:cNvSpPr/>
          <p:nvPr/>
        </p:nvSpPr>
        <p:spPr>
          <a:xfrm>
            <a:off x="5202540" y="1257280"/>
            <a:ext cx="3607140" cy="159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006B6B"/>
                </a:solidFill>
                <a:latin typeface="Consolas" pitchFamily="34" charset="0"/>
              </a:rPr>
              <a:t>Orders Growth % =
DIVIDE(
  [Total Orders] - [Orders Last Month],
  [Orders Last Month], 0
) * 100</a:t>
            </a:r>
          </a:p>
        </p:txBody>
      </p:sp>
      <p:sp>
        <p:nvSpPr>
          <p:cNvPr id="44" name="DoodleText_5144460_3172960">
            <a:extLst>
              <a:ext uri="{FF2B5EF4-FFF2-40B4-BE49-F238E27FC236}">
                <a16:creationId xmlns:a16="http://schemas.microsoft.com/office/drawing/2014/main" id="{28C86CA3-036D-A794-D68B-6B678C16BEAC}"/>
              </a:ext>
            </a:extLst>
          </p:cNvPr>
          <p:cNvSpPr/>
          <p:nvPr/>
        </p:nvSpPr>
        <p:spPr>
          <a:xfrm>
            <a:off x="5144460" y="2169587"/>
            <a:ext cx="3727140" cy="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4A4A4A"/>
                </a:solidFill>
                <a:latin typeface="Calibri" pitchFamily="34" charset="0"/>
              </a:rPr>
              <a:t>MoM growth percentage</a:t>
            </a:r>
          </a:p>
        </p:txBody>
      </p:sp>
      <p:sp>
        <p:nvSpPr>
          <p:cNvPr id="45" name="DoodleRect_182880_3462960">
            <a:extLst>
              <a:ext uri="{FF2B5EF4-FFF2-40B4-BE49-F238E27FC236}">
                <a16:creationId xmlns:a16="http://schemas.microsoft.com/office/drawing/2014/main" id="{719C6CB9-590E-3562-67A7-CFFFC30984DE}"/>
              </a:ext>
            </a:extLst>
          </p:cNvPr>
          <p:cNvSpPr/>
          <p:nvPr/>
        </p:nvSpPr>
        <p:spPr>
          <a:xfrm>
            <a:off x="180960" y="3243857"/>
            <a:ext cx="4298640" cy="167451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6" name="DoodleRect_182880_3462960">
            <a:extLst>
              <a:ext uri="{FF2B5EF4-FFF2-40B4-BE49-F238E27FC236}">
                <a16:creationId xmlns:a16="http://schemas.microsoft.com/office/drawing/2014/main" id="{9078189A-B37F-2CB8-99D4-CA4F0C723E1E}"/>
              </a:ext>
            </a:extLst>
          </p:cNvPr>
          <p:cNvSpPr/>
          <p:nvPr/>
        </p:nvSpPr>
        <p:spPr>
          <a:xfrm>
            <a:off x="182880" y="3563897"/>
            <a:ext cx="89520" cy="1021520"/>
          </a:xfrm>
          <a:prstGeom prst="rect">
            <a:avLst/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7" name="DoodleText_282880_3512960">
            <a:extLst>
              <a:ext uri="{FF2B5EF4-FFF2-40B4-BE49-F238E27FC236}">
                <a16:creationId xmlns:a16="http://schemas.microsoft.com/office/drawing/2014/main" id="{8484F3DE-65FC-E096-2DB5-BA5638CEE4EF}"/>
              </a:ext>
            </a:extLst>
          </p:cNvPr>
          <p:cNvSpPr/>
          <p:nvPr/>
        </p:nvSpPr>
        <p:spPr>
          <a:xfrm>
            <a:off x="280960" y="3293857"/>
            <a:ext cx="3800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Segoe UI Emoji" pitchFamily="34" charset="0"/>
              </a:rPr>
              <a:t>✅</a:t>
            </a:r>
          </a:p>
        </p:txBody>
      </p:sp>
      <p:sp>
        <p:nvSpPr>
          <p:cNvPr id="48" name="DoodleText_662940_3522960">
            <a:extLst>
              <a:ext uri="{FF2B5EF4-FFF2-40B4-BE49-F238E27FC236}">
                <a16:creationId xmlns:a16="http://schemas.microsoft.com/office/drawing/2014/main" id="{E5DB7143-50C0-1E0A-F69D-37EE11C9568C}"/>
              </a:ext>
            </a:extLst>
          </p:cNvPr>
          <p:cNvSpPr/>
          <p:nvPr/>
        </p:nvSpPr>
        <p:spPr>
          <a:xfrm>
            <a:off x="661020" y="3303857"/>
            <a:ext cx="372714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</a:rPr>
              <a:t>On-Time %</a:t>
            </a:r>
          </a:p>
        </p:txBody>
      </p:sp>
      <p:sp>
        <p:nvSpPr>
          <p:cNvPr id="49" name="DoodleRect_662940_3783000">
            <a:extLst>
              <a:ext uri="{FF2B5EF4-FFF2-40B4-BE49-F238E27FC236}">
                <a16:creationId xmlns:a16="http://schemas.microsoft.com/office/drawing/2014/main" id="{466B1EA0-69A6-4672-9EC1-FD8597AC7DF0}"/>
              </a:ext>
            </a:extLst>
          </p:cNvPr>
          <p:cNvSpPr/>
          <p:nvPr/>
        </p:nvSpPr>
        <p:spPr>
          <a:xfrm>
            <a:off x="661020" y="3563897"/>
            <a:ext cx="3727140" cy="1001572"/>
          </a:xfrm>
          <a:prstGeom prst="rect">
            <a:avLst/>
          </a:prstGeom>
          <a:solidFill>
            <a:srgbClr val="E8E4DC"/>
          </a:solidFill>
          <a:ln w="12700">
            <a:solidFill>
              <a:srgbClr val="D4C9B0"/>
            </a:solidFill>
            <a:prstDash val="solid"/>
          </a:ln>
        </p:spPr>
      </p:sp>
      <p:sp>
        <p:nvSpPr>
          <p:cNvPr id="50" name="DoodleText_722940_3823000">
            <a:extLst>
              <a:ext uri="{FF2B5EF4-FFF2-40B4-BE49-F238E27FC236}">
                <a16:creationId xmlns:a16="http://schemas.microsoft.com/office/drawing/2014/main" id="{72D44950-DAD9-82DC-E0C7-A54ECED525BC}"/>
              </a:ext>
            </a:extLst>
          </p:cNvPr>
          <p:cNvSpPr/>
          <p:nvPr/>
        </p:nvSpPr>
        <p:spPr>
          <a:xfrm>
            <a:off x="721020" y="3603897"/>
            <a:ext cx="3607140" cy="8504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006B6B"/>
                </a:solidFill>
                <a:latin typeface="Consolas" pitchFamily="34" charset="0"/>
              </a:rPr>
              <a:t>On-Time % =
DIVIDE(
  CALCULATE(COUNT(fact_order[order_id]),
    fact_order[delivery_time] &lt;= 30),
  [Total Orders], 0
) * 100</a:t>
            </a:r>
          </a:p>
        </p:txBody>
      </p:sp>
      <p:sp>
        <p:nvSpPr>
          <p:cNvPr id="51" name="DoodleText_662940_4052960">
            <a:extLst>
              <a:ext uri="{FF2B5EF4-FFF2-40B4-BE49-F238E27FC236}">
                <a16:creationId xmlns:a16="http://schemas.microsoft.com/office/drawing/2014/main" id="{377D7A69-E044-53DB-0AF1-7643438085C5}"/>
              </a:ext>
            </a:extLst>
          </p:cNvPr>
          <p:cNvSpPr/>
          <p:nvPr/>
        </p:nvSpPr>
        <p:spPr>
          <a:xfrm>
            <a:off x="661020" y="4585417"/>
            <a:ext cx="3727140" cy="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4A4A4A"/>
                </a:solidFill>
                <a:latin typeface="Calibri" pitchFamily="34" charset="0"/>
              </a:rPr>
              <a:t>% deliveries under 30 min</a:t>
            </a:r>
          </a:p>
        </p:txBody>
      </p:sp>
      <p:sp>
        <p:nvSpPr>
          <p:cNvPr id="52" name="DoodleRect_4664400_3462960">
            <a:extLst>
              <a:ext uri="{FF2B5EF4-FFF2-40B4-BE49-F238E27FC236}">
                <a16:creationId xmlns:a16="http://schemas.microsoft.com/office/drawing/2014/main" id="{FD86D339-56BB-D27B-8609-3F5CB5FAB068}"/>
              </a:ext>
            </a:extLst>
          </p:cNvPr>
          <p:cNvSpPr/>
          <p:nvPr/>
        </p:nvSpPr>
        <p:spPr>
          <a:xfrm>
            <a:off x="4662480" y="3243857"/>
            <a:ext cx="4298640" cy="167451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53" name="DoodleRect_4664400_3462960">
            <a:extLst>
              <a:ext uri="{FF2B5EF4-FFF2-40B4-BE49-F238E27FC236}">
                <a16:creationId xmlns:a16="http://schemas.microsoft.com/office/drawing/2014/main" id="{6490862C-C851-C41B-DA11-59D2F3BA695A}"/>
              </a:ext>
            </a:extLst>
          </p:cNvPr>
          <p:cNvSpPr/>
          <p:nvPr/>
        </p:nvSpPr>
        <p:spPr>
          <a:xfrm>
            <a:off x="4671039" y="3612993"/>
            <a:ext cx="91143" cy="952475"/>
          </a:xfrm>
          <a:prstGeom prst="rect">
            <a:avLst/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4" name="DoodleText_4764400_3512960">
            <a:extLst>
              <a:ext uri="{FF2B5EF4-FFF2-40B4-BE49-F238E27FC236}">
                <a16:creationId xmlns:a16="http://schemas.microsoft.com/office/drawing/2014/main" id="{1A1FCF3D-81CF-3033-E5D2-80141505903E}"/>
              </a:ext>
            </a:extLst>
          </p:cNvPr>
          <p:cNvSpPr/>
          <p:nvPr/>
        </p:nvSpPr>
        <p:spPr>
          <a:xfrm>
            <a:off x="4762480" y="3293857"/>
            <a:ext cx="3800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Segoe UI Emoji" pitchFamily="34" charset="0"/>
              </a:rPr>
              <a:t>🎯</a:t>
            </a:r>
          </a:p>
        </p:txBody>
      </p:sp>
      <p:sp>
        <p:nvSpPr>
          <p:cNvPr id="55" name="DoodleText_5144460_3522960">
            <a:extLst>
              <a:ext uri="{FF2B5EF4-FFF2-40B4-BE49-F238E27FC236}">
                <a16:creationId xmlns:a16="http://schemas.microsoft.com/office/drawing/2014/main" id="{B4F7A620-ADA1-D101-B194-D9C8783DF23A}"/>
              </a:ext>
            </a:extLst>
          </p:cNvPr>
          <p:cNvSpPr/>
          <p:nvPr/>
        </p:nvSpPr>
        <p:spPr>
          <a:xfrm>
            <a:off x="5142540" y="3303857"/>
            <a:ext cx="372714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</a:rPr>
              <a:t>Revenue vs Target %</a:t>
            </a:r>
          </a:p>
        </p:txBody>
      </p:sp>
      <p:sp>
        <p:nvSpPr>
          <p:cNvPr id="56" name="DoodleRect_5144460_3783000">
            <a:extLst>
              <a:ext uri="{FF2B5EF4-FFF2-40B4-BE49-F238E27FC236}">
                <a16:creationId xmlns:a16="http://schemas.microsoft.com/office/drawing/2014/main" id="{DFCF7685-26D2-C4AA-73A3-8B5BFE35C090}"/>
              </a:ext>
            </a:extLst>
          </p:cNvPr>
          <p:cNvSpPr/>
          <p:nvPr/>
        </p:nvSpPr>
        <p:spPr>
          <a:xfrm>
            <a:off x="5142540" y="3563896"/>
            <a:ext cx="3727140" cy="1001571"/>
          </a:xfrm>
          <a:prstGeom prst="rect">
            <a:avLst/>
          </a:prstGeom>
          <a:solidFill>
            <a:srgbClr val="E8E4DC"/>
          </a:solidFill>
          <a:ln w="12700">
            <a:solidFill>
              <a:srgbClr val="D4C9B0"/>
            </a:solidFill>
            <a:prstDash val="solid"/>
          </a:ln>
        </p:spPr>
      </p:sp>
      <p:sp>
        <p:nvSpPr>
          <p:cNvPr id="57" name="DoodleText_5204460_3823000">
            <a:extLst>
              <a:ext uri="{FF2B5EF4-FFF2-40B4-BE49-F238E27FC236}">
                <a16:creationId xmlns:a16="http://schemas.microsoft.com/office/drawing/2014/main" id="{60B64E9A-4A60-F9DC-C44E-FF2B76819F5B}"/>
              </a:ext>
            </a:extLst>
          </p:cNvPr>
          <p:cNvSpPr/>
          <p:nvPr/>
        </p:nvSpPr>
        <p:spPr>
          <a:xfrm>
            <a:off x="5202540" y="3603897"/>
            <a:ext cx="3607140" cy="159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006B6B"/>
                </a:solidFill>
                <a:latin typeface="Consolas" pitchFamily="34" charset="0"/>
              </a:rPr>
              <a:t>Revenue vs Target % =
DIVIDE(
  [Total Revenue] - [Target Revenue],
  [Target Revenue], 0
) * 100</a:t>
            </a:r>
          </a:p>
        </p:txBody>
      </p:sp>
      <p:sp>
        <p:nvSpPr>
          <p:cNvPr id="58" name="DoodleText_5144460_4052960">
            <a:extLst>
              <a:ext uri="{FF2B5EF4-FFF2-40B4-BE49-F238E27FC236}">
                <a16:creationId xmlns:a16="http://schemas.microsoft.com/office/drawing/2014/main" id="{EBAE06AE-3BC6-CA31-0786-0D452A3532DB}"/>
              </a:ext>
            </a:extLst>
          </p:cNvPr>
          <p:cNvSpPr/>
          <p:nvPr/>
        </p:nvSpPr>
        <p:spPr>
          <a:xfrm>
            <a:off x="5082540" y="4523357"/>
            <a:ext cx="3727140" cy="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4A4A4A"/>
                </a:solidFill>
                <a:latin typeface="Calibri" pitchFamily="34" charset="0"/>
              </a:rPr>
              <a:t>+156% vs ₹300 target</a:t>
            </a:r>
          </a:p>
        </p:txBody>
      </p:sp>
    </p:spTree>
    <p:extLst>
      <p:ext uri="{BB962C8B-B14F-4D97-AF65-F5344CB8AC3E}">
        <p14:creationId xmlns:p14="http://schemas.microsoft.com/office/powerpoint/2010/main" val="35400734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dditional DAX Measures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8" name="DoodleRect_182880_182880"/>
          <p:cNvSpPr/>
          <p:nvPr/>
        </p:nvSpPr>
        <p:spPr>
          <a:xfrm>
            <a:off x="182880" y="182880"/>
            <a:ext cx="8778240" cy="548640"/>
          </a:xfrm>
          <a:prstGeom prst="rect">
            <a:avLst/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9999" name="DoodleText_274320_182880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ADDITIONAL DAX MEASURES</a:t>
            </a:r>
          </a:p>
        </p:txBody>
      </p:sp>
      <p:sp>
        <p:nvSpPr>
          <p:cNvPr id="2" name="DoodleText_274320_777240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</a:rPr>
              <a:t>Smart Delivery Insights &amp; Calculated Columns — Full DAX Reference</a:t>
            </a:r>
          </a:p>
        </p:txBody>
      </p:sp>
      <p:sp>
        <p:nvSpPr>
          <p:cNvPr id="3" name="DoodleRect_182880_822960"/>
          <p:cNvSpPr/>
          <p:nvPr/>
        </p:nvSpPr>
        <p:spPr>
          <a:xfrm>
            <a:off x="182880" y="822960"/>
            <a:ext cx="4298640" cy="166551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5" name="DoodleText_282880_872960"/>
          <p:cNvSpPr/>
          <p:nvPr/>
        </p:nvSpPr>
        <p:spPr>
          <a:xfrm>
            <a:off x="282880" y="872960"/>
            <a:ext cx="3800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Segoe UI Emoji" pitchFamily="34" charset="0"/>
              </a:rPr>
              <a:t>📅</a:t>
            </a:r>
          </a:p>
        </p:txBody>
      </p:sp>
      <p:sp>
        <p:nvSpPr>
          <p:cNvPr id="6" name="DoodleText_662940_882960"/>
          <p:cNvSpPr/>
          <p:nvPr/>
        </p:nvSpPr>
        <p:spPr>
          <a:xfrm>
            <a:off x="662940" y="882960"/>
            <a:ext cx="372714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</a:rPr>
              <a:t>Orders This Month (MTD)</a:t>
            </a:r>
          </a:p>
        </p:txBody>
      </p:sp>
      <p:sp>
        <p:nvSpPr>
          <p:cNvPr id="7" name="DoodleRect_662940_1143000"/>
          <p:cNvSpPr/>
          <p:nvPr/>
        </p:nvSpPr>
        <p:spPr>
          <a:xfrm>
            <a:off x="662940" y="1143000"/>
            <a:ext cx="3727140" cy="914400"/>
          </a:xfrm>
          <a:prstGeom prst="rect">
            <a:avLst/>
          </a:prstGeom>
          <a:solidFill>
            <a:srgbClr val="E8E4DC"/>
          </a:solidFill>
          <a:ln w="12700">
            <a:solidFill>
              <a:srgbClr val="D4C9B0"/>
            </a:solidFill>
            <a:prstDash val="solid"/>
          </a:ln>
        </p:spPr>
      </p:sp>
      <p:sp>
        <p:nvSpPr>
          <p:cNvPr id="8" name="DoodleText_722940_1183000"/>
          <p:cNvSpPr/>
          <p:nvPr/>
        </p:nvSpPr>
        <p:spPr>
          <a:xfrm>
            <a:off x="722940" y="1183000"/>
            <a:ext cx="3607140" cy="159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006B6B"/>
                </a:solidFill>
                <a:latin typeface="Consolas" pitchFamily="34" charset="0"/>
              </a:rPr>
              <a:t>Orders This Month =
CALCULATE(
  [Total Orders],
  DATESMTD(Calendar[Date])
)</a:t>
            </a:r>
          </a:p>
        </p:txBody>
      </p:sp>
      <p:sp>
        <p:nvSpPr>
          <p:cNvPr id="9" name="DoodleText_662940_1412960"/>
          <p:cNvSpPr/>
          <p:nvPr/>
        </p:nvSpPr>
        <p:spPr>
          <a:xfrm>
            <a:off x="662940" y="2079551"/>
            <a:ext cx="3727140" cy="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4A4A4A"/>
                </a:solidFill>
                <a:latin typeface="Calibri" pitchFamily="34" charset="0"/>
              </a:rPr>
              <a:t>Month-to-date orders</a:t>
            </a:r>
          </a:p>
        </p:txBody>
      </p:sp>
      <p:sp>
        <p:nvSpPr>
          <p:cNvPr id="10" name="DoodleRect_4664400_822960"/>
          <p:cNvSpPr/>
          <p:nvPr/>
        </p:nvSpPr>
        <p:spPr>
          <a:xfrm>
            <a:off x="4664400" y="822960"/>
            <a:ext cx="4298640" cy="166551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2" name="DoodleText_4764400_872960"/>
          <p:cNvSpPr/>
          <p:nvPr/>
        </p:nvSpPr>
        <p:spPr>
          <a:xfrm>
            <a:off x="4764400" y="872960"/>
            <a:ext cx="3800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Segoe UI Emoji" pitchFamily="34" charset="0"/>
              </a:rPr>
              <a:t>🗓</a:t>
            </a:r>
          </a:p>
        </p:txBody>
      </p:sp>
      <p:sp>
        <p:nvSpPr>
          <p:cNvPr id="13" name="DoodleText_5144460_882960"/>
          <p:cNvSpPr/>
          <p:nvPr/>
        </p:nvSpPr>
        <p:spPr>
          <a:xfrm>
            <a:off x="5144460" y="882960"/>
            <a:ext cx="372714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</a:rPr>
              <a:t>Revenue MTD</a:t>
            </a:r>
          </a:p>
        </p:txBody>
      </p:sp>
      <p:sp>
        <p:nvSpPr>
          <p:cNvPr id="14" name="DoodleRect_5144460_1143000"/>
          <p:cNvSpPr/>
          <p:nvPr/>
        </p:nvSpPr>
        <p:spPr>
          <a:xfrm>
            <a:off x="5144460" y="1142999"/>
            <a:ext cx="3727140" cy="936551"/>
          </a:xfrm>
          <a:prstGeom prst="rect">
            <a:avLst/>
          </a:prstGeom>
          <a:solidFill>
            <a:srgbClr val="E8E4DC"/>
          </a:solidFill>
          <a:ln w="12700">
            <a:solidFill>
              <a:srgbClr val="D4C9B0"/>
            </a:solidFill>
            <a:prstDash val="solid"/>
          </a:ln>
        </p:spPr>
      </p:sp>
      <p:sp>
        <p:nvSpPr>
          <p:cNvPr id="15" name="DoodleText_5204460_1183000"/>
          <p:cNvSpPr/>
          <p:nvPr/>
        </p:nvSpPr>
        <p:spPr>
          <a:xfrm>
            <a:off x="5204460" y="1183000"/>
            <a:ext cx="3607140" cy="159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006B6B"/>
                </a:solidFill>
                <a:latin typeface="Consolas" pitchFamily="34" charset="0"/>
              </a:rPr>
              <a:t>Revenue MTD =
CALCULATE(
  [Total Revenue],
  DATESMTD(Calendar[Date])
)</a:t>
            </a:r>
          </a:p>
        </p:txBody>
      </p:sp>
      <p:sp>
        <p:nvSpPr>
          <p:cNvPr id="16" name="DoodleText_5144460_1412960"/>
          <p:cNvSpPr/>
          <p:nvPr/>
        </p:nvSpPr>
        <p:spPr>
          <a:xfrm>
            <a:off x="5144460" y="2091296"/>
            <a:ext cx="3727140" cy="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4A4A4A"/>
                </a:solidFill>
                <a:latin typeface="Calibri" pitchFamily="34" charset="0"/>
              </a:rPr>
              <a:t>Month-to-date revenue</a:t>
            </a:r>
          </a:p>
        </p:txBody>
      </p:sp>
      <p:sp>
        <p:nvSpPr>
          <p:cNvPr id="17" name="DoodleRect_182880_1702960"/>
          <p:cNvSpPr/>
          <p:nvPr/>
        </p:nvSpPr>
        <p:spPr>
          <a:xfrm>
            <a:off x="180960" y="3270502"/>
            <a:ext cx="4298640" cy="169011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9" name="DoodleText_282880_1752960"/>
          <p:cNvSpPr/>
          <p:nvPr/>
        </p:nvSpPr>
        <p:spPr>
          <a:xfrm>
            <a:off x="280960" y="3320503"/>
            <a:ext cx="3800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Segoe UI Emoji" pitchFamily="34" charset="0"/>
              </a:rPr>
              <a:t>📆</a:t>
            </a:r>
          </a:p>
        </p:txBody>
      </p:sp>
      <p:sp>
        <p:nvSpPr>
          <p:cNvPr id="20" name="DoodleText_662940_1762960"/>
          <p:cNvSpPr/>
          <p:nvPr/>
        </p:nvSpPr>
        <p:spPr>
          <a:xfrm>
            <a:off x="661020" y="3330503"/>
            <a:ext cx="372714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</a:rPr>
              <a:t>Revenue YTD</a:t>
            </a:r>
          </a:p>
        </p:txBody>
      </p:sp>
      <p:sp>
        <p:nvSpPr>
          <p:cNvPr id="21" name="DoodleRect_662940_2023000"/>
          <p:cNvSpPr/>
          <p:nvPr/>
        </p:nvSpPr>
        <p:spPr>
          <a:xfrm>
            <a:off x="661020" y="3590543"/>
            <a:ext cx="3727140" cy="832028"/>
          </a:xfrm>
          <a:prstGeom prst="rect">
            <a:avLst/>
          </a:prstGeom>
          <a:solidFill>
            <a:srgbClr val="E8E4DC"/>
          </a:solidFill>
          <a:ln w="12700">
            <a:solidFill>
              <a:srgbClr val="D4C9B0"/>
            </a:solidFill>
            <a:prstDash val="solid"/>
          </a:ln>
        </p:spPr>
      </p:sp>
      <p:sp>
        <p:nvSpPr>
          <p:cNvPr id="22" name="DoodleText_722940_2063000"/>
          <p:cNvSpPr/>
          <p:nvPr/>
        </p:nvSpPr>
        <p:spPr>
          <a:xfrm>
            <a:off x="721020" y="3630543"/>
            <a:ext cx="3607140" cy="159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006B6B"/>
                </a:solidFill>
                <a:latin typeface="Consolas" pitchFamily="34" charset="0"/>
              </a:rPr>
              <a:t>Revenue YTD =
CALCULATE(
  [Total Revenue],
  DATESYTD(Calendar[Date])
)</a:t>
            </a:r>
          </a:p>
        </p:txBody>
      </p:sp>
      <p:sp>
        <p:nvSpPr>
          <p:cNvPr id="23" name="DoodleText_662940_2292960"/>
          <p:cNvSpPr/>
          <p:nvPr/>
        </p:nvSpPr>
        <p:spPr>
          <a:xfrm>
            <a:off x="661020" y="4442611"/>
            <a:ext cx="3727140" cy="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4A4A4A"/>
                </a:solidFill>
                <a:latin typeface="Calibri" pitchFamily="34" charset="0"/>
              </a:rPr>
              <a:t>Year-to-date revenue</a:t>
            </a:r>
          </a:p>
        </p:txBody>
      </p:sp>
      <p:sp>
        <p:nvSpPr>
          <p:cNvPr id="24" name="DoodleRect_4664400_1702960"/>
          <p:cNvSpPr/>
          <p:nvPr/>
        </p:nvSpPr>
        <p:spPr>
          <a:xfrm>
            <a:off x="4662480" y="3270503"/>
            <a:ext cx="4298640" cy="169011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6" name="DoodleText_4764400_1752960"/>
          <p:cNvSpPr/>
          <p:nvPr/>
        </p:nvSpPr>
        <p:spPr>
          <a:xfrm>
            <a:off x="4762480" y="3320503"/>
            <a:ext cx="3800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Segoe UI Emoji" pitchFamily="34" charset="0"/>
              </a:rPr>
              <a:t>🔄</a:t>
            </a:r>
          </a:p>
        </p:txBody>
      </p:sp>
      <p:sp>
        <p:nvSpPr>
          <p:cNvPr id="27" name="DoodleText_5144460_1762960"/>
          <p:cNvSpPr/>
          <p:nvPr/>
        </p:nvSpPr>
        <p:spPr>
          <a:xfrm>
            <a:off x="5142540" y="3330503"/>
            <a:ext cx="372714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</a:rPr>
              <a:t>Same Period Last Year</a:t>
            </a:r>
          </a:p>
        </p:txBody>
      </p:sp>
      <p:sp>
        <p:nvSpPr>
          <p:cNvPr id="28" name="DoodleRect_5144460_2023000"/>
          <p:cNvSpPr/>
          <p:nvPr/>
        </p:nvSpPr>
        <p:spPr>
          <a:xfrm>
            <a:off x="5142540" y="3590543"/>
            <a:ext cx="3727140" cy="852068"/>
          </a:xfrm>
          <a:prstGeom prst="rect">
            <a:avLst/>
          </a:prstGeom>
          <a:solidFill>
            <a:srgbClr val="E8E4DC"/>
          </a:solidFill>
          <a:ln w="12700">
            <a:solidFill>
              <a:srgbClr val="D4C9B0"/>
            </a:solidFill>
            <a:prstDash val="solid"/>
          </a:ln>
        </p:spPr>
      </p:sp>
      <p:sp>
        <p:nvSpPr>
          <p:cNvPr id="29" name="DoodleText_5204460_2063000"/>
          <p:cNvSpPr/>
          <p:nvPr/>
        </p:nvSpPr>
        <p:spPr>
          <a:xfrm>
            <a:off x="5202540" y="3630543"/>
            <a:ext cx="3607140" cy="159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006B6B"/>
                </a:solidFill>
                <a:latin typeface="Consolas" pitchFamily="34" charset="0"/>
              </a:rPr>
              <a:t>Orders SPLY =
CALCULATE(
  [Total Orders],
  SAMEPERIODLASTYEAR(Calendar[Date])
)</a:t>
            </a:r>
          </a:p>
        </p:txBody>
      </p:sp>
      <p:sp>
        <p:nvSpPr>
          <p:cNvPr id="30" name="DoodleText_5144460_2292960"/>
          <p:cNvSpPr/>
          <p:nvPr/>
        </p:nvSpPr>
        <p:spPr>
          <a:xfrm>
            <a:off x="5142540" y="4442611"/>
            <a:ext cx="3727140" cy="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4A4A4A"/>
                </a:solidFill>
                <a:latin typeface="Calibri" pitchFamily="34" charset="0"/>
              </a:rPr>
              <a:t>YoY comparison baseline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223710-7D5E-D731-2276-8876654E2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8" name="DoodleRect_182880_182880">
            <a:extLst>
              <a:ext uri="{FF2B5EF4-FFF2-40B4-BE49-F238E27FC236}">
                <a16:creationId xmlns:a16="http://schemas.microsoft.com/office/drawing/2014/main" id="{4CED4498-03F0-F028-6B5B-4B995FADDB74}"/>
              </a:ext>
            </a:extLst>
          </p:cNvPr>
          <p:cNvSpPr/>
          <p:nvPr/>
        </p:nvSpPr>
        <p:spPr>
          <a:xfrm>
            <a:off x="182880" y="182880"/>
            <a:ext cx="8778240" cy="548640"/>
          </a:xfrm>
          <a:prstGeom prst="rect">
            <a:avLst/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9999" name="DoodleText_274320_182880">
            <a:extLst>
              <a:ext uri="{FF2B5EF4-FFF2-40B4-BE49-F238E27FC236}">
                <a16:creationId xmlns:a16="http://schemas.microsoft.com/office/drawing/2014/main" id="{7FE851BC-D4AC-01A2-92B3-C8B2C2543DCC}"/>
              </a:ext>
            </a:extLst>
          </p:cNvPr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ADDITIONAL DAX MEASURES</a:t>
            </a:r>
          </a:p>
        </p:txBody>
      </p:sp>
      <p:sp>
        <p:nvSpPr>
          <p:cNvPr id="31" name="DoodleRect_182880_2582960">
            <a:extLst>
              <a:ext uri="{FF2B5EF4-FFF2-40B4-BE49-F238E27FC236}">
                <a16:creationId xmlns:a16="http://schemas.microsoft.com/office/drawing/2014/main" id="{D7EA258D-62BD-E89B-604A-FC722265D750}"/>
              </a:ext>
            </a:extLst>
          </p:cNvPr>
          <p:cNvSpPr/>
          <p:nvPr/>
        </p:nvSpPr>
        <p:spPr>
          <a:xfrm>
            <a:off x="182880" y="791520"/>
            <a:ext cx="4298640" cy="16614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3" name="DoodleText_282880_2632960">
            <a:extLst>
              <a:ext uri="{FF2B5EF4-FFF2-40B4-BE49-F238E27FC236}">
                <a16:creationId xmlns:a16="http://schemas.microsoft.com/office/drawing/2014/main" id="{387254AF-A8FC-4C85-7C98-C5AF6208900F}"/>
              </a:ext>
            </a:extLst>
          </p:cNvPr>
          <p:cNvSpPr/>
          <p:nvPr/>
        </p:nvSpPr>
        <p:spPr>
          <a:xfrm>
            <a:off x="282880" y="841520"/>
            <a:ext cx="3800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Segoe UI Emoji" pitchFamily="34" charset="0"/>
              </a:rPr>
              <a:t>⬅</a:t>
            </a:r>
          </a:p>
        </p:txBody>
      </p:sp>
      <p:sp>
        <p:nvSpPr>
          <p:cNvPr id="34" name="DoodleText_662940_2642960">
            <a:extLst>
              <a:ext uri="{FF2B5EF4-FFF2-40B4-BE49-F238E27FC236}">
                <a16:creationId xmlns:a16="http://schemas.microsoft.com/office/drawing/2014/main" id="{6C4320FE-F782-A4FF-53DD-C8782D3BF691}"/>
              </a:ext>
            </a:extLst>
          </p:cNvPr>
          <p:cNvSpPr/>
          <p:nvPr/>
        </p:nvSpPr>
        <p:spPr>
          <a:xfrm>
            <a:off x="662940" y="851520"/>
            <a:ext cx="372714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</a:rPr>
              <a:t>Orders Last Month</a:t>
            </a:r>
          </a:p>
        </p:txBody>
      </p:sp>
      <p:sp>
        <p:nvSpPr>
          <p:cNvPr id="35" name="DoodleRect_662940_2903000">
            <a:extLst>
              <a:ext uri="{FF2B5EF4-FFF2-40B4-BE49-F238E27FC236}">
                <a16:creationId xmlns:a16="http://schemas.microsoft.com/office/drawing/2014/main" id="{2285ED63-E6AF-751D-596D-1AF7E135F67F}"/>
              </a:ext>
            </a:extLst>
          </p:cNvPr>
          <p:cNvSpPr/>
          <p:nvPr/>
        </p:nvSpPr>
        <p:spPr>
          <a:xfrm>
            <a:off x="662940" y="1111560"/>
            <a:ext cx="3727140" cy="850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4C9B0"/>
            </a:solidFill>
            <a:prstDash val="solid"/>
          </a:ln>
        </p:spPr>
      </p:sp>
      <p:sp>
        <p:nvSpPr>
          <p:cNvPr id="36" name="DoodleText_722940_2943000">
            <a:extLst>
              <a:ext uri="{FF2B5EF4-FFF2-40B4-BE49-F238E27FC236}">
                <a16:creationId xmlns:a16="http://schemas.microsoft.com/office/drawing/2014/main" id="{C8BDE354-BD21-3A7F-0027-86E9E3DD64C5}"/>
              </a:ext>
            </a:extLst>
          </p:cNvPr>
          <p:cNvSpPr/>
          <p:nvPr/>
        </p:nvSpPr>
        <p:spPr>
          <a:xfrm>
            <a:off x="722940" y="1151560"/>
            <a:ext cx="3607140" cy="159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006B6B"/>
                </a:solidFill>
                <a:latin typeface="Consolas" pitchFamily="34" charset="0"/>
              </a:rPr>
              <a:t>Orders Last Month =
CALCULATE(
  [Total Orders],
  PREVIOUSMONTH(Calendar[Date])
)</a:t>
            </a:r>
          </a:p>
        </p:txBody>
      </p:sp>
      <p:sp>
        <p:nvSpPr>
          <p:cNvPr id="37" name="DoodleText_662940_3172960">
            <a:extLst>
              <a:ext uri="{FF2B5EF4-FFF2-40B4-BE49-F238E27FC236}">
                <a16:creationId xmlns:a16="http://schemas.microsoft.com/office/drawing/2014/main" id="{385E598B-B8F6-9251-4912-AE726D2C97A2}"/>
              </a:ext>
            </a:extLst>
          </p:cNvPr>
          <p:cNvSpPr/>
          <p:nvPr/>
        </p:nvSpPr>
        <p:spPr>
          <a:xfrm>
            <a:off x="661020" y="1994949"/>
            <a:ext cx="3727140" cy="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4A4A4A"/>
                </a:solidFill>
                <a:latin typeface="Calibri" pitchFamily="34" charset="0"/>
              </a:rPr>
              <a:t>Prior month order count</a:t>
            </a:r>
          </a:p>
        </p:txBody>
      </p:sp>
      <p:sp>
        <p:nvSpPr>
          <p:cNvPr id="38" name="DoodleRect_4664400_2582960">
            <a:extLst>
              <a:ext uri="{FF2B5EF4-FFF2-40B4-BE49-F238E27FC236}">
                <a16:creationId xmlns:a16="http://schemas.microsoft.com/office/drawing/2014/main" id="{7F47500D-9791-56AA-BBCA-3EA7ABDAE92F}"/>
              </a:ext>
            </a:extLst>
          </p:cNvPr>
          <p:cNvSpPr/>
          <p:nvPr/>
        </p:nvSpPr>
        <p:spPr>
          <a:xfrm>
            <a:off x="4664400" y="791519"/>
            <a:ext cx="4298640" cy="166143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0" name="DoodleText_4764400_2632960">
            <a:extLst>
              <a:ext uri="{FF2B5EF4-FFF2-40B4-BE49-F238E27FC236}">
                <a16:creationId xmlns:a16="http://schemas.microsoft.com/office/drawing/2014/main" id="{B7C9BE86-48C1-97F1-C6DC-FC5C68F0A014}"/>
              </a:ext>
            </a:extLst>
          </p:cNvPr>
          <p:cNvSpPr/>
          <p:nvPr/>
        </p:nvSpPr>
        <p:spPr>
          <a:xfrm>
            <a:off x="4764400" y="841520"/>
            <a:ext cx="3800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Segoe UI Emoji" pitchFamily="34" charset="0"/>
              </a:rPr>
              <a:t>📉</a:t>
            </a:r>
          </a:p>
        </p:txBody>
      </p:sp>
      <p:sp>
        <p:nvSpPr>
          <p:cNvPr id="41" name="DoodleText_5144460_2642960">
            <a:extLst>
              <a:ext uri="{FF2B5EF4-FFF2-40B4-BE49-F238E27FC236}">
                <a16:creationId xmlns:a16="http://schemas.microsoft.com/office/drawing/2014/main" id="{1152ABFE-27EF-F77F-FEF3-971B497BB1FB}"/>
              </a:ext>
            </a:extLst>
          </p:cNvPr>
          <p:cNvSpPr/>
          <p:nvPr/>
        </p:nvSpPr>
        <p:spPr>
          <a:xfrm>
            <a:off x="5144460" y="851520"/>
            <a:ext cx="372714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</a:rPr>
              <a:t>Orders Last 7 Days</a:t>
            </a:r>
          </a:p>
        </p:txBody>
      </p:sp>
      <p:sp>
        <p:nvSpPr>
          <p:cNvPr id="42" name="DoodleRect_5144460_2903000">
            <a:extLst>
              <a:ext uri="{FF2B5EF4-FFF2-40B4-BE49-F238E27FC236}">
                <a16:creationId xmlns:a16="http://schemas.microsoft.com/office/drawing/2014/main" id="{6C92A843-97D9-F36C-448F-06776535456F}"/>
              </a:ext>
            </a:extLst>
          </p:cNvPr>
          <p:cNvSpPr/>
          <p:nvPr/>
        </p:nvSpPr>
        <p:spPr>
          <a:xfrm>
            <a:off x="5144460" y="1111559"/>
            <a:ext cx="3727140" cy="883389"/>
          </a:xfrm>
          <a:prstGeom prst="rect">
            <a:avLst/>
          </a:prstGeom>
          <a:solidFill>
            <a:srgbClr val="E8E4DC"/>
          </a:solidFill>
          <a:ln w="12700">
            <a:solidFill>
              <a:srgbClr val="D4C9B0"/>
            </a:solidFill>
            <a:prstDash val="solid"/>
          </a:ln>
        </p:spPr>
      </p:sp>
      <p:sp>
        <p:nvSpPr>
          <p:cNvPr id="43" name="DoodleText_5204460_2943000">
            <a:extLst>
              <a:ext uri="{FF2B5EF4-FFF2-40B4-BE49-F238E27FC236}">
                <a16:creationId xmlns:a16="http://schemas.microsoft.com/office/drawing/2014/main" id="{AF2D9652-2705-D68A-9E15-A0B79C7F52F9}"/>
              </a:ext>
            </a:extLst>
          </p:cNvPr>
          <p:cNvSpPr/>
          <p:nvPr/>
        </p:nvSpPr>
        <p:spPr>
          <a:xfrm>
            <a:off x="5204460" y="1151560"/>
            <a:ext cx="3607140" cy="159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006B6B"/>
                </a:solidFill>
                <a:latin typeface="Consolas" pitchFamily="34" charset="0"/>
              </a:rPr>
              <a:t>Orders Last 7 Days =
CALCULATE(
  [Total Orders],
  DATESINPERIOD(Calendar[Date],
    MAX(Calendar[Date]), -7, DAY)
)</a:t>
            </a:r>
          </a:p>
        </p:txBody>
      </p:sp>
      <p:sp>
        <p:nvSpPr>
          <p:cNvPr id="44" name="DoodleText_5144460_3172960">
            <a:extLst>
              <a:ext uri="{FF2B5EF4-FFF2-40B4-BE49-F238E27FC236}">
                <a16:creationId xmlns:a16="http://schemas.microsoft.com/office/drawing/2014/main" id="{5A46AB5A-6BE9-06A9-305C-37301091D8CE}"/>
              </a:ext>
            </a:extLst>
          </p:cNvPr>
          <p:cNvSpPr/>
          <p:nvPr/>
        </p:nvSpPr>
        <p:spPr>
          <a:xfrm>
            <a:off x="5084460" y="2004948"/>
            <a:ext cx="3727140" cy="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4A4A4A"/>
                </a:solidFill>
                <a:latin typeface="Calibri" pitchFamily="34" charset="0"/>
              </a:rPr>
              <a:t>Rolling 7-day window</a:t>
            </a:r>
          </a:p>
        </p:txBody>
      </p:sp>
      <p:sp>
        <p:nvSpPr>
          <p:cNvPr id="45" name="DoodleRect_182880_3462960">
            <a:extLst>
              <a:ext uri="{FF2B5EF4-FFF2-40B4-BE49-F238E27FC236}">
                <a16:creationId xmlns:a16="http://schemas.microsoft.com/office/drawing/2014/main" id="{F7569492-27E7-1E4F-E780-F8690F8B8D85}"/>
              </a:ext>
            </a:extLst>
          </p:cNvPr>
          <p:cNvSpPr/>
          <p:nvPr/>
        </p:nvSpPr>
        <p:spPr>
          <a:xfrm>
            <a:off x="180960" y="3252960"/>
            <a:ext cx="4298640" cy="16614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7" name="DoodleText_282880_3512960">
            <a:extLst>
              <a:ext uri="{FF2B5EF4-FFF2-40B4-BE49-F238E27FC236}">
                <a16:creationId xmlns:a16="http://schemas.microsoft.com/office/drawing/2014/main" id="{26DCB88C-AAB0-5E07-B04C-CC1157B9AD63}"/>
              </a:ext>
            </a:extLst>
          </p:cNvPr>
          <p:cNvSpPr/>
          <p:nvPr/>
        </p:nvSpPr>
        <p:spPr>
          <a:xfrm>
            <a:off x="280960" y="3302960"/>
            <a:ext cx="3800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Segoe UI Emoji" pitchFamily="34" charset="0"/>
              </a:rPr>
              <a:t>⚡</a:t>
            </a:r>
          </a:p>
        </p:txBody>
      </p:sp>
      <p:sp>
        <p:nvSpPr>
          <p:cNvPr id="48" name="DoodleText_662940_3522960">
            <a:extLst>
              <a:ext uri="{FF2B5EF4-FFF2-40B4-BE49-F238E27FC236}">
                <a16:creationId xmlns:a16="http://schemas.microsoft.com/office/drawing/2014/main" id="{79E27285-5471-D90A-9BC0-FDD984DE4C06}"/>
              </a:ext>
            </a:extLst>
          </p:cNvPr>
          <p:cNvSpPr/>
          <p:nvPr/>
        </p:nvSpPr>
        <p:spPr>
          <a:xfrm>
            <a:off x="661020" y="3312960"/>
            <a:ext cx="372714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</a:rPr>
              <a:t>Delivery Speed Column</a:t>
            </a:r>
          </a:p>
        </p:txBody>
      </p:sp>
      <p:sp>
        <p:nvSpPr>
          <p:cNvPr id="49" name="DoodleRect_662940_3783000">
            <a:extLst>
              <a:ext uri="{FF2B5EF4-FFF2-40B4-BE49-F238E27FC236}">
                <a16:creationId xmlns:a16="http://schemas.microsoft.com/office/drawing/2014/main" id="{7101D80E-64F6-EC88-6A38-2D8273392FCC}"/>
              </a:ext>
            </a:extLst>
          </p:cNvPr>
          <p:cNvSpPr/>
          <p:nvPr/>
        </p:nvSpPr>
        <p:spPr>
          <a:xfrm>
            <a:off x="661020" y="3572999"/>
            <a:ext cx="3727140" cy="992469"/>
          </a:xfrm>
          <a:prstGeom prst="rect">
            <a:avLst/>
          </a:prstGeom>
          <a:solidFill>
            <a:srgbClr val="E8E4DC"/>
          </a:solidFill>
          <a:ln w="12700">
            <a:solidFill>
              <a:srgbClr val="D4C9B0"/>
            </a:solidFill>
            <a:prstDash val="solid"/>
          </a:ln>
        </p:spPr>
      </p:sp>
      <p:sp>
        <p:nvSpPr>
          <p:cNvPr id="50" name="DoodleText_722940_3823000">
            <a:extLst>
              <a:ext uri="{FF2B5EF4-FFF2-40B4-BE49-F238E27FC236}">
                <a16:creationId xmlns:a16="http://schemas.microsoft.com/office/drawing/2014/main" id="{8481A510-C262-CE93-7CE3-B3E8B471E576}"/>
              </a:ext>
            </a:extLst>
          </p:cNvPr>
          <p:cNvSpPr/>
          <p:nvPr/>
        </p:nvSpPr>
        <p:spPr>
          <a:xfrm>
            <a:off x="721020" y="3613000"/>
            <a:ext cx="3607140" cy="159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006B6B"/>
                </a:solidFill>
                <a:latin typeface="Consolas" pitchFamily="34" charset="0"/>
              </a:rPr>
              <a:t>Delivery Speed =
IF(
  fact_order[delivery_time] &lt;= 30,
  "Fast",
  "Slow"
)</a:t>
            </a:r>
          </a:p>
        </p:txBody>
      </p:sp>
      <p:sp>
        <p:nvSpPr>
          <p:cNvPr id="51" name="DoodleText_662940_4052960">
            <a:extLst>
              <a:ext uri="{FF2B5EF4-FFF2-40B4-BE49-F238E27FC236}">
                <a16:creationId xmlns:a16="http://schemas.microsoft.com/office/drawing/2014/main" id="{1E5F2B47-0987-44EC-205C-B8C1C962AFD8}"/>
              </a:ext>
            </a:extLst>
          </p:cNvPr>
          <p:cNvSpPr/>
          <p:nvPr/>
        </p:nvSpPr>
        <p:spPr>
          <a:xfrm>
            <a:off x="662940" y="4589934"/>
            <a:ext cx="3727140" cy="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4A4A4A"/>
                </a:solidFill>
                <a:latin typeface="Calibri" pitchFamily="34" charset="0"/>
              </a:rPr>
              <a:t>Calculated column — bisects fleet</a:t>
            </a:r>
          </a:p>
        </p:txBody>
      </p:sp>
      <p:sp>
        <p:nvSpPr>
          <p:cNvPr id="52" name="DoodleRect_4664400_3462960">
            <a:extLst>
              <a:ext uri="{FF2B5EF4-FFF2-40B4-BE49-F238E27FC236}">
                <a16:creationId xmlns:a16="http://schemas.microsoft.com/office/drawing/2014/main" id="{087CF857-F1D8-23E0-70F2-BF42A087A439}"/>
              </a:ext>
            </a:extLst>
          </p:cNvPr>
          <p:cNvSpPr/>
          <p:nvPr/>
        </p:nvSpPr>
        <p:spPr>
          <a:xfrm>
            <a:off x="4662480" y="3252959"/>
            <a:ext cx="4298640" cy="166143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54" name="DoodleText_4764400_3512960">
            <a:extLst>
              <a:ext uri="{FF2B5EF4-FFF2-40B4-BE49-F238E27FC236}">
                <a16:creationId xmlns:a16="http://schemas.microsoft.com/office/drawing/2014/main" id="{F26A454F-538F-8062-50A8-4AB7A7006EF8}"/>
              </a:ext>
            </a:extLst>
          </p:cNvPr>
          <p:cNvSpPr/>
          <p:nvPr/>
        </p:nvSpPr>
        <p:spPr>
          <a:xfrm>
            <a:off x="4762480" y="3302960"/>
            <a:ext cx="3800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Segoe UI Emoji" pitchFamily="34" charset="0"/>
              </a:rPr>
              <a:t>🏷</a:t>
            </a:r>
          </a:p>
        </p:txBody>
      </p:sp>
      <p:sp>
        <p:nvSpPr>
          <p:cNvPr id="55" name="DoodleText_5144460_3522960">
            <a:extLst>
              <a:ext uri="{FF2B5EF4-FFF2-40B4-BE49-F238E27FC236}">
                <a16:creationId xmlns:a16="http://schemas.microsoft.com/office/drawing/2014/main" id="{6D87A565-C7C1-2693-70D4-55058057B0DD}"/>
              </a:ext>
            </a:extLst>
          </p:cNvPr>
          <p:cNvSpPr/>
          <p:nvPr/>
        </p:nvSpPr>
        <p:spPr>
          <a:xfrm>
            <a:off x="5142540" y="3312960"/>
            <a:ext cx="3727140" cy="28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</a:rPr>
              <a:t>Order Category Column</a:t>
            </a:r>
          </a:p>
        </p:txBody>
      </p:sp>
      <p:sp>
        <p:nvSpPr>
          <p:cNvPr id="56" name="DoodleRect_5144460_3783000">
            <a:extLst>
              <a:ext uri="{FF2B5EF4-FFF2-40B4-BE49-F238E27FC236}">
                <a16:creationId xmlns:a16="http://schemas.microsoft.com/office/drawing/2014/main" id="{D3D1A910-0A56-8C91-C758-885CB05E8E3E}"/>
              </a:ext>
            </a:extLst>
          </p:cNvPr>
          <p:cNvSpPr/>
          <p:nvPr/>
        </p:nvSpPr>
        <p:spPr>
          <a:xfrm>
            <a:off x="5142540" y="3573000"/>
            <a:ext cx="3727140" cy="1016934"/>
          </a:xfrm>
          <a:prstGeom prst="rect">
            <a:avLst/>
          </a:prstGeom>
          <a:solidFill>
            <a:srgbClr val="E8E4DC"/>
          </a:solidFill>
          <a:ln w="12700">
            <a:solidFill>
              <a:srgbClr val="D4C9B0"/>
            </a:solidFill>
            <a:prstDash val="solid"/>
          </a:ln>
        </p:spPr>
      </p:sp>
      <p:sp>
        <p:nvSpPr>
          <p:cNvPr id="57" name="DoodleText_5204460_3823000">
            <a:extLst>
              <a:ext uri="{FF2B5EF4-FFF2-40B4-BE49-F238E27FC236}">
                <a16:creationId xmlns:a16="http://schemas.microsoft.com/office/drawing/2014/main" id="{817B2299-E3E3-FBB4-7DCB-073B4EFA798C}"/>
              </a:ext>
            </a:extLst>
          </p:cNvPr>
          <p:cNvSpPr/>
          <p:nvPr/>
        </p:nvSpPr>
        <p:spPr>
          <a:xfrm>
            <a:off x="5202540" y="3613000"/>
            <a:ext cx="3607140" cy="159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006B6B"/>
                </a:solidFill>
                <a:latin typeface="Consolas" pitchFamily="34" charset="0"/>
              </a:rPr>
              <a:t>Order Category =
IF(
  fact_order[total_amount] &gt; 500,
  "High Value",
  "Standard"
)</a:t>
            </a:r>
          </a:p>
        </p:txBody>
      </p:sp>
      <p:sp>
        <p:nvSpPr>
          <p:cNvPr id="58" name="DoodleText_5144460_4052960">
            <a:extLst>
              <a:ext uri="{FF2B5EF4-FFF2-40B4-BE49-F238E27FC236}">
                <a16:creationId xmlns:a16="http://schemas.microsoft.com/office/drawing/2014/main" id="{7E108467-5E4E-8D82-DEE8-BF8B4B4DFB47}"/>
              </a:ext>
            </a:extLst>
          </p:cNvPr>
          <p:cNvSpPr/>
          <p:nvPr/>
        </p:nvSpPr>
        <p:spPr>
          <a:xfrm>
            <a:off x="5144460" y="4612454"/>
            <a:ext cx="3727140" cy="15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4A4A4A"/>
                </a:solidFill>
                <a:latin typeface="Calibri" pitchFamily="34" charset="0"/>
              </a:rPr>
              <a:t>Calculated column — order tier</a:t>
            </a:r>
          </a:p>
        </p:txBody>
      </p:sp>
    </p:spTree>
    <p:extLst>
      <p:ext uri="{BB962C8B-B14F-4D97-AF65-F5344CB8AC3E}">
        <p14:creationId xmlns:p14="http://schemas.microsoft.com/office/powerpoint/2010/main" val="26102102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1645</Words>
  <Application>Microsoft Office PowerPoint</Application>
  <PresentationFormat>On-screen Show (16:9)</PresentationFormat>
  <Paragraphs>338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Comic Sans MS</vt:lpstr>
      <vt:lpstr>Consolas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Delivery Analytics</dc:title>
  <dc:subject>PptxGenJS Presentation</dc:subject>
  <dc:creator>Mini Project</dc:creator>
  <cp:lastModifiedBy>Rehan Kwatla</cp:lastModifiedBy>
  <cp:revision>3</cp:revision>
  <dcterms:created xsi:type="dcterms:W3CDTF">2026-05-08T07:05:40Z</dcterms:created>
  <dcterms:modified xsi:type="dcterms:W3CDTF">2026-05-10T12:37:15Z</dcterms:modified>
</cp:coreProperties>
</file>